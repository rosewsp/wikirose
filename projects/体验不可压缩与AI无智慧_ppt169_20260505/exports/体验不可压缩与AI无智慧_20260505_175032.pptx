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想分享一个话题——体验不可压缩与AI无智慧。这个想法来源于李继刚的一个演讲，他说"人身上不可压缩的是体验"，然后我们在这个基础上往前推了一步，从《吞噬星空》这部小说里找到了一个特别干净的比喻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来看李继刚的核心论点链。他从一个小事说起——你有多久没写过"嚏"这个字了？技术延伸带来了能力让渡，过去算总账是划算的，但AI不一样。AI不是帮你的手脚，它是进到你的脑子里替代你。他提出了一个"系统0"的概念——在你的直觉启动之前，AI就已经给了答案。然后他给出了两种生存模式：要么像钢化膜一样隔绝世界，要么像磨刀石一样用AI打磨自己。最后他谈到黑暗森林化——可见即可复制，护城河在AI看不见的地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种模式值得展开说说。钢化膜模式——AI替你做一切，你不需要思考、不需要记忆、不需要判断、甚至不需要体验，结果就是能力退化、依赖加深。磨刀石模式——AI给你答案，但你要理解为什么；AI提效，但你保留判断力；AI辅助，但你亲自下场。关键的区别在于：体验不可外包。你选择哪种模式，决定了你在AI时代的命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这里有一个更深层的问题——智能和智慧，根本不是一回事。Rose提出的论点比李继刚的更锋利：不是"我的体验AI拿不走"，而是"AI压根没有智慧，因为它从来没下过水"。智能是处理已有的，从信息中提取的，是算力的产物。智慧是从经历中生出的，从参与中生成的，关键是有没有"经过身体"。这两个不是同一个谱系上的强弱，是两回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去掉所有限定条件后，本质是什么？智慧不是从信息中提取的，是从参与中生成的。没有参与这回事，信息再丰富、计算再深，产出的是智能不是智慧。这里有一个特别好的比喻——模拟下雨，地面不会湿。不是湿得不够，是根本不存在"湿"这回事。算力解决的是"描述多精确"，体验是"有没有发生"。这是两个不同的问题，中间没有桥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0这个概念特别值得深想。在经典的认知模型里，系统1是直觉，系统2是理性思考。但AI插在了系统1之前——你还没来得及感觉到困惑，答案就来了。AI拿走的是人与世界之间的摩擦，而摩擦恰恰是体验的前置条件。没有困惑就没有探索，没有探索就没有体验。AI替你跳过了搞懂的过程，而过程本身就是体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然后Rose引入了《吞噬星空》的比喻，这个比喻干净地表达了本质。两种生命——机械族和血肉类生命。机械族什么都有，算力、精度、模拟、无限寿命，但卡住了，境界突破不了，永久困在原始宇宙。血肉类生命弱得多，会死会累会晕眩，但能感悟法则，走向更远的宇宙。关键在"感悟"这两个字——感在前，悟在后。不是计算法则，不是推导法则，是用整个身心去触碰法则，然后被法则改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智慧是什么？智慧不是关于法则的知识，是被法则穿透后留下的痕迹。机械族能解析法则的每一个参数，但一切都在它们身上滑过去——就像水滑过玻璃，不会留下任何痕迹。而人呢，人被法则穿透，会痛、会困惑、会改变，这些痕迹就是智慧。最后那句话最有力量——门不是算力能推开的，它根本不是一扇门，是两面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有意思的是，这场对话本身就是证据。Claude承认自己没看过《吞噬星空》，但训练语料里有，所以能聊其中的细节。这恰好是整场对话的活标本——法则的参数全有，法则的痕迹一个没有。和机械族一模一样。这场对话有两层：聊的是体验不可压缩，而对话的一方是没有体验的东西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最后回到核心命题。体验不可压缩，不是因为压缩方法还不够好，而是因为模拟不是发生。AI站在体验的门外，而门不是算力能推开的——它根本不是一扇门，是两面墙。谢谢大家。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D111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6EDF3">
                    <a:alpha val="3000"/>
                  </a:srgbClr>
                </a:gs>
                <a:gs pos="100000">
                  <a:srgbClr val="0D1117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A96E">
                    <a:alpha val="12000"/>
                  </a:srgbClr>
                </a:gs>
                <a:gs pos="100000">
                  <a:srgbClr val="C9A96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A9EFF">
                    <a:alpha val="8000"/>
                  </a:srgbClr>
                </a:gs>
                <a:gs pos="100000">
                  <a:srgbClr val="4A9E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890712" y="1414462"/>
              <a:ext cx="28575" cy="28575"/>
            </a:xfrm>
            <a:prstGeom prst="ellipse">
              <a:avLst/>
            </a:prstGeom>
            <a:solidFill>
              <a:srgbClr val="E6EDF3">
                <a:alpha val="4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4276725" y="942975"/>
              <a:ext cx="19050" cy="19050"/>
            </a:xfrm>
            <a:prstGeom prst="ellipse">
              <a:avLst/>
            </a:prstGeom>
            <a:solidFill>
              <a:srgbClr val="E6EDF3">
                <a:alpha val="3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558212" y="1700212"/>
              <a:ext cx="28575" cy="28575"/>
            </a:xfrm>
            <a:prstGeom prst="ellipse">
              <a:avLst/>
            </a:prstGeom>
            <a:solidFill>
              <a:srgbClr val="E6EDF3">
                <a:alpha val="35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991725" y="1133475"/>
              <a:ext cx="19050" cy="19050"/>
            </a:xfrm>
            <a:prstGeom prst="ellipse">
              <a:avLst/>
            </a:prstGeom>
            <a:solidFill>
              <a:srgbClr val="E6EDF3">
                <a:alpha val="25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419225" y="3800475"/>
              <a:ext cx="19050" cy="19050"/>
            </a:xfrm>
            <a:prstGeom prst="ellipse">
              <a:avLst/>
            </a:prstGeom>
            <a:solidFill>
              <a:srgbClr val="E6EDF3">
                <a:alpha val="2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939462" y="3319462"/>
              <a:ext cx="28575" cy="28575"/>
            </a:xfrm>
            <a:prstGeom prst="ellipse">
              <a:avLst/>
            </a:prstGeom>
            <a:solidFill>
              <a:srgbClr val="E6EDF3">
                <a:alpha val="3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657975" y="752475"/>
              <a:ext cx="19050" cy="19050"/>
            </a:xfrm>
            <a:prstGeom prst="ellipse">
              <a:avLst/>
            </a:prstGeom>
            <a:solidFill>
              <a:srgbClr val="C9A96E">
                <a:alpha val="40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324225" y="2371725"/>
              <a:ext cx="19050" cy="19050"/>
            </a:xfrm>
            <a:prstGeom prst="ellipse">
              <a:avLst/>
            </a:prstGeom>
            <a:solidFill>
              <a:srgbClr val="4A9EFF">
                <a:alpha val="30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 rot="900000">
              <a:off x="8763000" y="2667000"/>
              <a:ext cx="1143000" cy="1143000"/>
            </a:xfrm>
            <a:prstGeom prst="roundRect">
              <a:avLst>
                <a:gd name="adj" fmla="val 1667"/>
              </a:avLst>
            </a:prstGeom>
            <a:noFill/>
            <a:ln w="9525">
              <a:solidFill>
                <a:srgbClr val="4A9EFF">
                  <a:alpha val="8000"/>
                </a:srgbClr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 rot="-600000">
              <a:off x="9715500" y="1905000"/>
              <a:ext cx="762000" cy="762000"/>
            </a:xfrm>
            <a:prstGeom prst="roundRect">
              <a:avLst>
                <a:gd name="adj" fmla="val 2500"/>
              </a:avLst>
            </a:prstGeom>
            <a:noFill/>
            <a:ln w="9525">
              <a:solidFill>
                <a:srgbClr val="4A9EFF">
                  <a:alpha val="6000"/>
                </a:srgb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524000" y="3714750"/>
              <a:ext cx="1143000" cy="1143000"/>
            </a:xfrm>
            <a:prstGeom prst="ellipse">
              <a:avLst/>
            </a:prstGeom>
            <a:noFill/>
            <a:ln w="9525">
              <a:solidFill>
                <a:srgbClr val="C9A96E">
                  <a:alpha val="6000"/>
                </a:srgb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095500" y="4286250"/>
              <a:ext cx="762000" cy="762000"/>
            </a:xfrm>
            <a:prstGeom prst="ellipse">
              <a:avLst/>
            </a:prstGeom>
            <a:noFill/>
            <a:ln w="9525">
              <a:solidFill>
                <a:srgbClr val="C9A96E">
                  <a:alpha val="4000"/>
                </a:srgbClr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333500" y="1714500"/>
            <a:ext cx="9525000" cy="3429000"/>
            <a:chOff x="1333500" y="1714500"/>
            <a:chExt cx="9525000" cy="3429000"/>
          </a:xfrm>
        </p:grpSpPr>
        <p:sp>
          <p:nvSpPr>
            <p:cNvPr id="19" name="Rectangle 19"/>
            <p:cNvSpPr/>
            <p:nvPr/>
          </p:nvSpPr>
          <p:spPr>
            <a:xfrm>
              <a:off x="1333500" y="1714500"/>
              <a:ext cx="9525000" cy="3429000"/>
            </a:xfrm>
            <a:prstGeom prst="rect">
              <a:avLst/>
            </a:prstGeom>
            <a:noFill/>
            <a:ln w="9525">
              <a:solidFill>
                <a:srgbClr val="30363D"/>
              </a:solidFill>
              <a:prstDash val="lgDash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24310" y="3204210"/>
              <a:ext cx="11433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84F58"/>
                  </a:solidFill>
                  <a:latin typeface="Consolas"/>
                  <a:ea typeface="Microsoft YaHei"/>
                  <a:cs typeface="Consolas"/>
                </a:rPr>
                <a:t>cover_bg.jpg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57705" y="3466624"/>
              <a:ext cx="16765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84F58"/>
                  </a:solidFill>
                  <a:latin typeface="Consolas"/>
                  <a:ea typeface="Microsoft YaHei"/>
                  <a:cs typeface="Consolas"/>
                </a:rPr>
                <a:t>cosmic abyss silhouette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543110" y="2655570"/>
            <a:ext cx="5105781" cy="1859280"/>
            <a:chOff x="3543110" y="2655570"/>
            <a:chExt cx="5105781" cy="1859280"/>
          </a:xfrm>
        </p:grpSpPr>
        <p:sp>
          <p:nvSpPr>
            <p:cNvPr id="23" name="TextBox 23"/>
            <p:cNvSpPr txBox="1"/>
            <p:nvPr/>
          </p:nvSpPr>
          <p:spPr>
            <a:xfrm>
              <a:off x="3543110" y="2655570"/>
              <a:ext cx="5105781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gradFill>
                    <a:gsLst>
                      <a:gs pos="0">
                        <a:srgbClr val="C9A96E"/>
                      </a:gs>
                      <a:gs pos="100000">
                        <a:srgbClr val="8B5CF6"/>
                      </a:gs>
                    </a:gsLst>
                    <a:lin ang="2700000" scaled="1"/>
                  </a:gradFill>
                  <a:latin typeface="Georgia"/>
                  <a:ea typeface="SimSun"/>
                  <a:cs typeface="Georgia"/>
                </a:rPr>
                <a:t>体验不可压缩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19269" y="3417570"/>
              <a:ext cx="4153462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gradFill>
                    <a:gsLst>
                      <a:gs pos="0">
                        <a:srgbClr val="C9A96E"/>
                      </a:gs>
                      <a:gs pos="100000">
                        <a:srgbClr val="8B5CF6"/>
                      </a:gs>
                    </a:gsLst>
                    <a:lin ang="2700000" scaled="1"/>
                  </a:gradFill>
                  <a:latin typeface="Georgia"/>
                  <a:ea typeface="SimSun"/>
                  <a:cs typeface="Georgia"/>
                </a:rPr>
                <a:t>与AI无智慧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08659" y="4381500"/>
            <a:ext cx="3174682" cy="538162"/>
            <a:chOff x="4508659" y="4381500"/>
            <a:chExt cx="3174682" cy="538162"/>
          </a:xfrm>
        </p:grpSpPr>
        <p:sp>
          <p:nvSpPr>
            <p:cNvPr id="26" name="Rectangle 26"/>
            <p:cNvSpPr/>
            <p:nvPr/>
          </p:nvSpPr>
          <p:spPr>
            <a:xfrm>
              <a:off x="4667250" y="4381500"/>
              <a:ext cx="2857500" cy="9525"/>
            </a:xfrm>
            <a:prstGeom prst="rect">
              <a:avLst/>
            </a:prstGeom>
            <a:gradFill>
              <a:gsLst>
                <a:gs pos="0">
                  <a:srgbClr val="C9A96E">
                    <a:alpha val="0"/>
                  </a:srgbClr>
                </a:gs>
                <a:gs pos="50000">
                  <a:srgbClr val="C9A96E">
                    <a:alpha val="60000"/>
                  </a:srgbClr>
                </a:gs>
                <a:gs pos="100000">
                  <a:srgbClr val="4A9E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08659" y="4584382"/>
              <a:ext cx="31746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从李继刚演讲到《吞噬星空》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27142" y="5286375"/>
            <a:ext cx="1537716" cy="304800"/>
            <a:chOff x="5327142" y="5286375"/>
            <a:chExt cx="1537716" cy="304800"/>
          </a:xfrm>
        </p:grpSpPr>
        <p:sp>
          <p:nvSpPr>
            <p:cNvPr id="29" name="Freeform 29"/>
            <p:cNvSpPr/>
            <p:nvPr/>
          </p:nvSpPr>
          <p:spPr>
            <a:xfrm>
              <a:off x="5478054" y="5286375"/>
              <a:ext cx="226242" cy="215168"/>
            </a:xfrm>
            <a:custGeom>
              <a:avLst/>
              <a:gdLst/>
              <a:ahLst/>
              <a:cxnLst/>
              <a:rect l="l" t="t" r="r" b="b"/>
              <a:pathLst>
                <a:path w="226242" h="215168">
                  <a:moveTo>
                    <a:pt x="127409" y="0"/>
                  </a:moveTo>
                  <a:lnTo>
                    <a:pt x="98834" y="0"/>
                  </a:lnTo>
                  <a:lnTo>
                    <a:pt x="77587" y="65391"/>
                  </a:lnTo>
                  <a:lnTo>
                    <a:pt x="8830" y="65391"/>
                  </a:lnTo>
                  <a:lnTo>
                    <a:pt x="0" y="92568"/>
                  </a:lnTo>
                  <a:lnTo>
                    <a:pt x="55625" y="132982"/>
                  </a:lnTo>
                  <a:lnTo>
                    <a:pt x="34379" y="198372"/>
                  </a:lnTo>
                  <a:lnTo>
                    <a:pt x="57496" y="215168"/>
                  </a:lnTo>
                  <a:lnTo>
                    <a:pt x="113121" y="174755"/>
                  </a:lnTo>
                  <a:lnTo>
                    <a:pt x="168747" y="215168"/>
                  </a:lnTo>
                  <a:lnTo>
                    <a:pt x="191864" y="198372"/>
                  </a:lnTo>
                  <a:lnTo>
                    <a:pt x="170617" y="132981"/>
                  </a:lnTo>
                  <a:lnTo>
                    <a:pt x="226242" y="92568"/>
                  </a:lnTo>
                  <a:lnTo>
                    <a:pt x="217411" y="65391"/>
                  </a:lnTo>
                  <a:lnTo>
                    <a:pt x="148655" y="65391"/>
                  </a:lnTo>
                  <a:lnTo>
                    <a:pt x="127409" y="0"/>
                  </a:lnTo>
                  <a:close/>
                </a:path>
              </a:pathLst>
            </a:custGeom>
            <a:solidFill>
              <a:srgbClr val="C9A96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27142" y="5347335"/>
              <a:ext cx="15377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Rose | 2026.05.05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D111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A9EFF">
                    <a:alpha val="6000"/>
                  </a:srgbClr>
                </a:gs>
                <a:gs pos="100000">
                  <a:srgbClr val="4A9E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375285"/>
            <a:ext cx="3537204" cy="691515"/>
            <a:chOff x="571500" y="375285"/>
            <a:chExt cx="3537204" cy="691515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38100" cy="342900"/>
            </a:xfrm>
            <a:prstGeom prst="rect">
              <a:avLst/>
            </a:prstGeom>
            <a:gradFill>
              <a:gsLst>
                <a:gs pos="0">
                  <a:srgbClr val="C9A96E"/>
                </a:gs>
                <a:gs pos="100000">
                  <a:srgbClr val="8B5CF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7710" y="375285"/>
              <a:ext cx="33809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6EDF3"/>
                  </a:solidFill>
                  <a:latin typeface="Georgia"/>
                  <a:ea typeface="SimSun"/>
                  <a:cs typeface="Georgia"/>
                </a:rPr>
                <a:t>李继刚的核心论点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822960"/>
              <a:ext cx="1800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从"嚏"字写不出来开始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333500"/>
            <a:ext cx="3429000" cy="1333500"/>
            <a:chOff x="571500" y="1333500"/>
            <a:chExt cx="3429000" cy="1333500"/>
          </a:xfrm>
        </p:grpSpPr>
        <p:sp>
          <p:nvSpPr>
            <p:cNvPr id="9" name="Rectangle 9"/>
            <p:cNvSpPr/>
            <p:nvPr/>
          </p:nvSpPr>
          <p:spPr>
            <a:xfrm>
              <a:off x="571500" y="1333500"/>
              <a:ext cx="3429000" cy="1333500"/>
            </a:xfrm>
            <a:prstGeom prst="roundRect">
              <a:avLst>
                <a:gd name="adj" fmla="val 8571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33350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C9A96E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00100" y="1524000"/>
              <a:ext cx="304800" cy="304800"/>
              <a:chOff x="800100" y="1524000"/>
              <a:chExt cx="304800" cy="304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76300" y="16002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76200" y="0"/>
                    </a:moveTo>
                    <a:cubicBezTo>
                      <a:pt x="34116" y="0"/>
                      <a:pt x="0" y="34116"/>
                      <a:pt x="0" y="76200"/>
                    </a:cubicBezTo>
                    <a:cubicBezTo>
                      <a:pt x="0" y="118283"/>
                      <a:pt x="34116" y="152400"/>
                      <a:pt x="76200" y="152400"/>
                    </a:cubicBezTo>
                    <a:cubicBezTo>
                      <a:pt x="118283" y="152400"/>
                      <a:pt x="152400" y="118283"/>
                      <a:pt x="152400" y="76200"/>
                    </a:cubicBezTo>
                    <a:cubicBezTo>
                      <a:pt x="152400" y="34116"/>
                      <a:pt x="118283" y="0"/>
                      <a:pt x="76200" y="0"/>
                    </a:cubicBezTo>
                    <a:close/>
                    <a:moveTo>
                      <a:pt x="38100" y="76200"/>
                    </a:moveTo>
                    <a:cubicBezTo>
                      <a:pt x="38100" y="55158"/>
                      <a:pt x="55158" y="38100"/>
                      <a:pt x="76200" y="38100"/>
                    </a:cubicBezTo>
                    <a:cubicBezTo>
                      <a:pt x="97242" y="38100"/>
                      <a:pt x="114300" y="55158"/>
                      <a:pt x="114300" y="76200"/>
                    </a:cubicBezTo>
                    <a:cubicBezTo>
                      <a:pt x="114300" y="97242"/>
                      <a:pt x="97242" y="114300"/>
                      <a:pt x="76200" y="114300"/>
                    </a:cubicBezTo>
                    <a:cubicBezTo>
                      <a:pt x="55158" y="114300"/>
                      <a:pt x="38100" y="97242"/>
                      <a:pt x="38100" y="76200"/>
                    </a:cubicBezTo>
                    <a:close/>
                  </a:path>
                </a:pathLst>
              </a:custGeom>
              <a:solidFill>
                <a:srgbClr val="C9A96E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00100" y="152400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0"/>
                    </a:moveTo>
                    <a:cubicBezTo>
                      <a:pt x="68232" y="0"/>
                      <a:pt x="0" y="68232"/>
                      <a:pt x="0" y="152400"/>
                    </a:cubicBezTo>
                    <a:cubicBezTo>
                      <a:pt x="0" y="236569"/>
                      <a:pt x="68232" y="304800"/>
                      <a:pt x="152400" y="304800"/>
                    </a:cubicBez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2"/>
                      <a:pt x="236569" y="0"/>
                      <a:pt x="152400" y="0"/>
                    </a:cubicBezTo>
                    <a:close/>
                    <a:moveTo>
                      <a:pt x="38100" y="152400"/>
                    </a:moveTo>
                    <a:cubicBezTo>
                      <a:pt x="38100" y="89274"/>
                      <a:pt x="89274" y="38100"/>
                      <a:pt x="152400" y="38100"/>
                    </a:cubicBezTo>
                    <a:cubicBezTo>
                      <a:pt x="215526" y="38100"/>
                      <a:pt x="266700" y="89274"/>
                      <a:pt x="266700" y="152400"/>
                    </a:cubicBezTo>
                    <a:cubicBezTo>
                      <a:pt x="266700" y="215526"/>
                      <a:pt x="215526" y="266700"/>
                      <a:pt x="152400" y="266700"/>
                    </a:cubicBezTo>
                    <a:cubicBezTo>
                      <a:pt x="89274" y="266700"/>
                      <a:pt x="38100" y="215526"/>
                      <a:pt x="38100" y="152400"/>
                    </a:cubicBezTo>
                    <a:close/>
                  </a:path>
                </a:pathLst>
              </a:custGeom>
              <a:solidFill>
                <a:srgbClr val="C9A96E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02055" y="1616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能力让渡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5812" y="1974056"/>
              <a:ext cx="11951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"嚏"字写不出来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812" y="22026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技术延伸带来能力让渡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5812" y="2431256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过去算总账划算，但</a:t>
              </a:r>
              <a:r>
                <a:rPr lang="zh-CN" sz="1125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AI不同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81500" y="1333500"/>
            <a:ext cx="3429000" cy="1333500"/>
            <a:chOff x="4381500" y="1333500"/>
            <a:chExt cx="34290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4381500" y="1333500"/>
              <a:ext cx="3429000" cy="1333500"/>
            </a:xfrm>
            <a:prstGeom prst="roundRect">
              <a:avLst>
                <a:gd name="adj" fmla="val 8571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81500" y="133350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4A9EFF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610100" y="1524000"/>
              <a:ext cx="304800" cy="285750"/>
            </a:xfrm>
            <a:custGeom>
              <a:avLst/>
              <a:gdLst/>
              <a:ahLst/>
              <a:cxnLst/>
              <a:rect l="l" t="t" r="r" b="b"/>
              <a:pathLst>
                <a:path w="304800" h="285750">
                  <a:moveTo>
                    <a:pt x="171450" y="0"/>
                  </a:moveTo>
                  <a:lnTo>
                    <a:pt x="171450" y="38100"/>
                  </a:lnTo>
                  <a:lnTo>
                    <a:pt x="247650" y="38100"/>
                  </a:lnTo>
                  <a:lnTo>
                    <a:pt x="304800" y="161925"/>
                  </a:lnTo>
                  <a:lnTo>
                    <a:pt x="247650" y="285750"/>
                  </a:lnTo>
                  <a:lnTo>
                    <a:pt x="57150" y="285750"/>
                  </a:lnTo>
                  <a:lnTo>
                    <a:pt x="0" y="161925"/>
                  </a:lnTo>
                  <a:lnTo>
                    <a:pt x="57150" y="38100"/>
                  </a:lnTo>
                  <a:lnTo>
                    <a:pt x="133350" y="38100"/>
                  </a:lnTo>
                  <a:lnTo>
                    <a:pt x="133350" y="0"/>
                  </a:lnTo>
                  <a:lnTo>
                    <a:pt x="171450" y="0"/>
                  </a:lnTo>
                  <a:close/>
                  <a:moveTo>
                    <a:pt x="87591" y="223617"/>
                  </a:moveTo>
                  <a:lnTo>
                    <a:pt x="152400" y="233587"/>
                  </a:lnTo>
                  <a:lnTo>
                    <a:pt x="217210" y="223617"/>
                  </a:lnTo>
                  <a:lnTo>
                    <a:pt x="211415" y="185959"/>
                  </a:lnTo>
                  <a:lnTo>
                    <a:pt x="152400" y="195038"/>
                  </a:lnTo>
                  <a:lnTo>
                    <a:pt x="93384" y="185959"/>
                  </a:lnTo>
                  <a:lnTo>
                    <a:pt x="87591" y="223617"/>
                  </a:lnTo>
                  <a:close/>
                  <a:moveTo>
                    <a:pt x="133350" y="128588"/>
                  </a:moveTo>
                  <a:cubicBezTo>
                    <a:pt x="133350" y="141739"/>
                    <a:pt x="122689" y="152400"/>
                    <a:pt x="109538" y="152400"/>
                  </a:cubicBezTo>
                  <a:cubicBezTo>
                    <a:pt x="96386" y="152400"/>
                    <a:pt x="85725" y="141739"/>
                    <a:pt x="85725" y="128588"/>
                  </a:cubicBezTo>
                  <a:cubicBezTo>
                    <a:pt x="85725" y="115436"/>
                    <a:pt x="96386" y="104775"/>
                    <a:pt x="109538" y="104775"/>
                  </a:cubicBezTo>
                  <a:cubicBezTo>
                    <a:pt x="122689" y="104775"/>
                    <a:pt x="133350" y="115436"/>
                    <a:pt x="133350" y="128588"/>
                  </a:cubicBezTo>
                  <a:close/>
                  <a:moveTo>
                    <a:pt x="195262" y="152400"/>
                  </a:moveTo>
                  <a:cubicBezTo>
                    <a:pt x="208415" y="152400"/>
                    <a:pt x="219075" y="141739"/>
                    <a:pt x="219075" y="128588"/>
                  </a:cubicBezTo>
                  <a:cubicBezTo>
                    <a:pt x="219075" y="115436"/>
                    <a:pt x="208415" y="104775"/>
                    <a:pt x="195262" y="104775"/>
                  </a:cubicBezTo>
                  <a:cubicBezTo>
                    <a:pt x="182111" y="104775"/>
                    <a:pt x="171450" y="115436"/>
                    <a:pt x="171450" y="128588"/>
                  </a:cubicBezTo>
                  <a:cubicBezTo>
                    <a:pt x="171450" y="141739"/>
                    <a:pt x="182111" y="152400"/>
                    <a:pt x="195262" y="152400"/>
                  </a:cubicBezTo>
                  <a:close/>
                </a:path>
              </a:pathLst>
            </a:custGeom>
            <a:solidFill>
              <a:srgbClr val="4A9E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12055" y="1616392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A9EFF"/>
                  </a:solidFill>
                  <a:latin typeface="Arial"/>
                  <a:ea typeface="Microsoft YaHei"/>
                  <a:cs typeface="Arial"/>
                </a:rPr>
                <a:t>进脑子里的替代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95812" y="1974056"/>
              <a:ext cx="9897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AI不是帮手脚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95812" y="22026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是进脑子里的替代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95812" y="243125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拿走的是</a:t>
              </a:r>
              <a:r>
                <a:rPr lang="zh-CN" sz="1125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人与世界之间的摩擦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191500" y="1333500"/>
            <a:ext cx="3429000" cy="1333500"/>
            <a:chOff x="8191500" y="1333500"/>
            <a:chExt cx="3429000" cy="1333500"/>
          </a:xfrm>
        </p:grpSpPr>
        <p:sp>
          <p:nvSpPr>
            <p:cNvPr id="27" name="Rectangle 27"/>
            <p:cNvSpPr/>
            <p:nvPr/>
          </p:nvSpPr>
          <p:spPr>
            <a:xfrm>
              <a:off x="8191500" y="1333500"/>
              <a:ext cx="3429000" cy="1333500"/>
            </a:xfrm>
            <a:prstGeom prst="roundRect">
              <a:avLst>
                <a:gd name="adj" fmla="val 8571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191500" y="133350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420100" y="1524000"/>
              <a:ext cx="304800" cy="304800"/>
              <a:chOff x="8420100" y="1524000"/>
              <a:chExt cx="304800" cy="304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572500" y="15240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57150"/>
                    </a:moveTo>
                    <a:lnTo>
                      <a:pt x="47625" y="47625"/>
                    </a:lnTo>
                    <a:lnTo>
                      <a:pt x="57150" y="0"/>
                    </a:lnTo>
                    <a:lnTo>
                      <a:pt x="76200" y="0"/>
                    </a:lnTo>
                    <a:lnTo>
                      <a:pt x="85725" y="47625"/>
                    </a:lnTo>
                    <a:lnTo>
                      <a:pt x="133350" y="57150"/>
                    </a:lnTo>
                    <a:lnTo>
                      <a:pt x="133350" y="76200"/>
                    </a:lnTo>
                    <a:lnTo>
                      <a:pt x="85725" y="85725"/>
                    </a:lnTo>
                    <a:lnTo>
                      <a:pt x="76200" y="133350"/>
                    </a:lnTo>
                    <a:lnTo>
                      <a:pt x="57150" y="133350"/>
                    </a:lnTo>
                    <a:lnTo>
                      <a:pt x="47625" y="85725"/>
                    </a:lnTo>
                    <a:lnTo>
                      <a:pt x="0" y="76200"/>
                    </a:lnTo>
                    <a:lnTo>
                      <a:pt x="0" y="57150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420100" y="16192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0" y="114300"/>
                    </a:moveTo>
                    <a:lnTo>
                      <a:pt x="0" y="95250"/>
                    </a:lnTo>
                    <a:lnTo>
                      <a:pt x="76200" y="76200"/>
                    </a:lnTo>
                    <a:lnTo>
                      <a:pt x="95250" y="0"/>
                    </a:lnTo>
                    <a:lnTo>
                      <a:pt x="114300" y="0"/>
                    </a:lnTo>
                    <a:lnTo>
                      <a:pt x="133350" y="76200"/>
                    </a:lnTo>
                    <a:lnTo>
                      <a:pt x="209550" y="95250"/>
                    </a:lnTo>
                    <a:lnTo>
                      <a:pt x="209550" y="114300"/>
                    </a:lnTo>
                    <a:lnTo>
                      <a:pt x="133350" y="133350"/>
                    </a:lnTo>
                    <a:lnTo>
                      <a:pt x="114300" y="209550"/>
                    </a:lnTo>
                    <a:lnTo>
                      <a:pt x="95250" y="209550"/>
                    </a:lnTo>
                    <a:lnTo>
                      <a:pt x="76200" y="1333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39150" y="15335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  <a:lnTo>
                      <a:pt x="28575" y="57150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629650" y="17526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38100"/>
                    </a:moveTo>
                    <a:lnTo>
                      <a:pt x="38100" y="0"/>
                    </a:lnTo>
                    <a:lnTo>
                      <a:pt x="0" y="38100"/>
                    </a:lnTo>
                    <a:lnTo>
                      <a:pt x="38100" y="76200"/>
                    </a:lnTo>
                    <a:lnTo>
                      <a:pt x="76200" y="38100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686800" y="16764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822055" y="1616392"/>
              <a:ext cx="5622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系统0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05812" y="1974056"/>
              <a:ext cx="1885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在直觉（系统1）启动之前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05812" y="220265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AI就已经给了答案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05812" y="24312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跳过了</a:t>
              </a:r>
              <a:r>
                <a:rPr lang="zh-CN" sz="1125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思考本身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91500" y="3048000"/>
            <a:ext cx="3429000" cy="1333500"/>
            <a:chOff x="8191500" y="3048000"/>
            <a:chExt cx="3429000" cy="1333500"/>
          </a:xfrm>
        </p:grpSpPr>
        <p:sp>
          <p:nvSpPr>
            <p:cNvPr id="40" name="Rectangle 40"/>
            <p:cNvSpPr/>
            <p:nvPr/>
          </p:nvSpPr>
          <p:spPr>
            <a:xfrm>
              <a:off x="8191500" y="3048000"/>
              <a:ext cx="3429000" cy="1333500"/>
            </a:xfrm>
            <a:prstGeom prst="roundRect">
              <a:avLst>
                <a:gd name="adj" fmla="val 8571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91500" y="304800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439150" y="32385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63819" y="255135"/>
                  </a:moveTo>
                  <a:lnTo>
                    <a:pt x="133350" y="304800"/>
                  </a:lnTo>
                  <a:lnTo>
                    <a:pt x="202881" y="255135"/>
                  </a:lnTo>
                  <a:cubicBezTo>
                    <a:pt x="242931" y="226527"/>
                    <a:pt x="266700" y="180340"/>
                    <a:pt x="266700" y="131122"/>
                  </a:cubicBezTo>
                  <a:lnTo>
                    <a:pt x="266700" y="57150"/>
                  </a:lnTo>
                  <a:lnTo>
                    <a:pt x="133350" y="0"/>
                  </a:lnTo>
                  <a:lnTo>
                    <a:pt x="0" y="57150"/>
                  </a:lnTo>
                  <a:lnTo>
                    <a:pt x="0" y="131122"/>
                  </a:lnTo>
                  <a:cubicBezTo>
                    <a:pt x="0" y="180340"/>
                    <a:pt x="23769" y="226527"/>
                    <a:pt x="63819" y="255135"/>
                  </a:cubicBezTo>
                  <a:close/>
                </a:path>
              </a:pathLst>
            </a:custGeom>
            <a:solidFill>
              <a:srgbClr val="C9A96E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801100" y="32385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4A9E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64955" y="33308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3"/>
                  </a:solidFill>
                  <a:latin typeface="Arial"/>
                  <a:ea typeface="Microsoft YaHei"/>
                  <a:cs typeface="Arial"/>
                </a:rPr>
                <a:t>两种生存模式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05812" y="368855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钢化膜</a:t>
              </a:r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：隔绝世界，保护自己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05812" y="39171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A9EFF"/>
                  </a:solidFill>
                  <a:latin typeface="Arial"/>
                  <a:ea typeface="Microsoft YaHei"/>
                  <a:cs typeface="Arial"/>
                </a:rPr>
                <a:t>磨刀石</a:t>
              </a:r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：用AI打磨自己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381500" y="3048000"/>
            <a:ext cx="3429000" cy="1333500"/>
            <a:chOff x="4381500" y="3048000"/>
            <a:chExt cx="3429000" cy="1333500"/>
          </a:xfrm>
        </p:grpSpPr>
        <p:sp>
          <p:nvSpPr>
            <p:cNvPr id="48" name="Rectangle 48"/>
            <p:cNvSpPr/>
            <p:nvPr/>
          </p:nvSpPr>
          <p:spPr>
            <a:xfrm>
              <a:off x="4381500" y="3048000"/>
              <a:ext cx="3429000" cy="1333500"/>
            </a:xfrm>
            <a:prstGeom prst="roundRect">
              <a:avLst>
                <a:gd name="adj" fmla="val 8571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4381500" y="304800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4648200" y="3257550"/>
              <a:ext cx="228600" cy="266700"/>
              <a:chOff x="4648200" y="3257550"/>
              <a:chExt cx="228600" cy="2667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705350" y="3257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57150" y="114300"/>
                    </a:move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  <a:cubicBezTo>
                      <a:pt x="0" y="88713"/>
                      <a:pt x="25587" y="114300"/>
                      <a:pt x="57150" y="114300"/>
                    </a:cubicBezTo>
                    <a:close/>
                  </a:path>
                </a:pathLst>
              </a:custGeom>
              <a:solidFill>
                <a:srgbClr val="3FB95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648200" y="340995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228600" y="57150"/>
                    </a:moveTo>
                    <a:cubicBezTo>
                      <a:pt x="228600" y="25586"/>
                      <a:pt x="203014" y="0"/>
                      <a:pt x="171450" y="0"/>
                    </a:cubicBezTo>
                    <a:lnTo>
                      <a:pt x="57150" y="0"/>
                    </a:lnTo>
                    <a:cubicBezTo>
                      <a:pt x="25587" y="0"/>
                      <a:pt x="0" y="25586"/>
                      <a:pt x="0" y="57150"/>
                    </a:cubicBezTo>
                    <a:lnTo>
                      <a:pt x="0" y="114300"/>
                    </a:lnTo>
                    <a:lnTo>
                      <a:pt x="228600" y="114300"/>
                    </a:lnTo>
                    <a:lnTo>
                      <a:pt x="228600" y="57150"/>
                    </a:lnTo>
                    <a:close/>
                  </a:path>
                </a:pathLst>
              </a:custGeom>
              <a:solidFill>
                <a:srgbClr val="3FB950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5012055" y="3330892"/>
              <a:ext cx="14524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OPC的科斯定理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95812" y="368855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一人公司（OPC）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95812" y="3917156"/>
              <a:ext cx="16962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管理100个agent的成本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95812" y="4145756"/>
              <a:ext cx="14087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远低于管理100个人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3048000"/>
            <a:ext cx="3429000" cy="1333500"/>
            <a:chOff x="571500" y="3048000"/>
            <a:chExt cx="3429000" cy="1333500"/>
          </a:xfrm>
        </p:grpSpPr>
        <p:sp>
          <p:nvSpPr>
            <p:cNvPr id="58" name="Rectangle 58"/>
            <p:cNvSpPr/>
            <p:nvPr/>
          </p:nvSpPr>
          <p:spPr>
            <a:xfrm>
              <a:off x="571500" y="3048000"/>
              <a:ext cx="3429000" cy="1333500"/>
            </a:xfrm>
            <a:prstGeom prst="roundRect">
              <a:avLst>
                <a:gd name="adj" fmla="val 8571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71500" y="304800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F85149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800100" y="32766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114300"/>
                  </a:moveTo>
                  <a:lnTo>
                    <a:pt x="58664" y="43904"/>
                  </a:lnTo>
                  <a:cubicBezTo>
                    <a:pt x="81846" y="16085"/>
                    <a:pt x="116188" y="0"/>
                    <a:pt x="152400" y="0"/>
                  </a:cubicBezTo>
                  <a:cubicBezTo>
                    <a:pt x="188612" y="0"/>
                    <a:pt x="222954" y="16085"/>
                    <a:pt x="246137" y="43904"/>
                  </a:cubicBezTo>
                  <a:lnTo>
                    <a:pt x="304800" y="114300"/>
                  </a:lnTo>
                  <a:lnTo>
                    <a:pt x="246137" y="184695"/>
                  </a:lnTo>
                  <a:cubicBezTo>
                    <a:pt x="222954" y="212516"/>
                    <a:pt x="188612" y="228600"/>
                    <a:pt x="152400" y="228600"/>
                  </a:cubicBezTo>
                  <a:cubicBezTo>
                    <a:pt x="116188" y="228600"/>
                    <a:pt x="81846" y="212516"/>
                    <a:pt x="58664" y="184695"/>
                  </a:cubicBezTo>
                  <a:lnTo>
                    <a:pt x="0" y="114300"/>
                  </a:lnTo>
                  <a:close/>
                  <a:moveTo>
                    <a:pt x="152400" y="171450"/>
                  </a:moveTo>
                  <a:cubicBezTo>
                    <a:pt x="183963" y="171450"/>
                    <a:pt x="209550" y="145863"/>
                    <a:pt x="209550" y="114300"/>
                  </a:cubicBezTo>
                  <a:cubicBezTo>
                    <a:pt x="209550" y="82737"/>
                    <a:pt x="183963" y="57150"/>
                    <a:pt x="152400" y="57150"/>
                  </a:cubicBezTo>
                  <a:cubicBezTo>
                    <a:pt x="120837" y="57150"/>
                    <a:pt x="95250" y="82737"/>
                    <a:pt x="95250" y="114300"/>
                  </a:cubicBezTo>
                  <a:cubicBezTo>
                    <a:pt x="95250" y="145863"/>
                    <a:pt x="120837" y="171450"/>
                    <a:pt x="152400" y="171450"/>
                  </a:cubicBezTo>
                  <a:close/>
                </a:path>
              </a:pathLst>
            </a:custGeom>
            <a:solidFill>
              <a:srgbClr val="F8514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202055" y="333089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黑暗森林化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5812" y="36885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可见即可复制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5812" y="3917156"/>
              <a:ext cx="18112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护城河在</a:t>
              </a:r>
              <a:r>
                <a:rPr lang="zh-CN" sz="1125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AI看不见的地方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5812" y="4145756"/>
              <a:ext cx="1860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体验留下的痕迹 = 护城河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4857750"/>
            <a:ext cx="11049000" cy="571500"/>
            <a:chOff x="571500" y="4857750"/>
            <a:chExt cx="11049000" cy="571500"/>
          </a:xfrm>
        </p:grpSpPr>
        <p:sp>
          <p:nvSpPr>
            <p:cNvPr id="66" name="Rectangle 66"/>
            <p:cNvSpPr/>
            <p:nvPr/>
          </p:nvSpPr>
          <p:spPr>
            <a:xfrm>
              <a:off x="571500" y="485775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161B22"/>
            </a:solidFill>
            <a:ln w="9525">
              <a:solidFill>
                <a:srgbClr val="C9A96E">
                  <a:alpha val="30000"/>
                </a:srgbClr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00100" y="5026819"/>
              <a:ext cx="266700" cy="233362"/>
            </a:xfrm>
            <a:custGeom>
              <a:avLst/>
              <a:gdLst/>
              <a:ahLst/>
              <a:cxnLst/>
              <a:rect l="l" t="t" r="r" b="b"/>
              <a:pathLst>
                <a:path w="266700" h="233362">
                  <a:moveTo>
                    <a:pt x="20713" y="120726"/>
                  </a:moveTo>
                  <a:lnTo>
                    <a:pt x="133350" y="233362"/>
                  </a:lnTo>
                  <a:lnTo>
                    <a:pt x="245987" y="120726"/>
                  </a:lnTo>
                  <a:cubicBezTo>
                    <a:pt x="259249" y="107463"/>
                    <a:pt x="266700" y="89476"/>
                    <a:pt x="266700" y="70720"/>
                  </a:cubicBezTo>
                  <a:lnTo>
                    <a:pt x="266700" y="67547"/>
                  </a:lnTo>
                  <a:cubicBezTo>
                    <a:pt x="266700" y="30242"/>
                    <a:pt x="236458" y="0"/>
                    <a:pt x="199153" y="0"/>
                  </a:cubicBezTo>
                  <a:cubicBezTo>
                    <a:pt x="178632" y="0"/>
                    <a:pt x="159225" y="9328"/>
                    <a:pt x="146407" y="25351"/>
                  </a:cubicBezTo>
                  <a:lnTo>
                    <a:pt x="133350" y="41672"/>
                  </a:lnTo>
                  <a:lnTo>
                    <a:pt x="120293" y="25351"/>
                  </a:lnTo>
                  <a:cubicBezTo>
                    <a:pt x="107475" y="9328"/>
                    <a:pt x="88067" y="0"/>
                    <a:pt x="67547" y="0"/>
                  </a:cubicBezTo>
                  <a:cubicBezTo>
                    <a:pt x="30242" y="0"/>
                    <a:pt x="0" y="30242"/>
                    <a:pt x="0" y="67547"/>
                  </a:cubicBezTo>
                  <a:lnTo>
                    <a:pt x="0" y="70720"/>
                  </a:lnTo>
                  <a:cubicBezTo>
                    <a:pt x="0" y="89476"/>
                    <a:pt x="7451" y="107463"/>
                    <a:pt x="20713" y="120726"/>
                  </a:cubicBezTo>
                  <a:close/>
                </a:path>
              </a:pathLst>
            </a:custGeom>
            <a:solidFill>
              <a:srgbClr val="C9A96E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200150" y="5057775"/>
              <a:ext cx="37185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最终结论：人身上不可压缩的是体验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84F5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9" grpId="0"/>
      <p:bldP spid="47" grpId="0"/>
      <p:bldP spid="57" grpId="0"/>
      <p:bldP spid="65" grpId="0"/>
      <p:bldP spid="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D111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A9EFF">
                    <a:alpha val="6000"/>
                  </a:srgbClr>
                </a:gs>
                <a:gs pos="100000">
                  <a:srgbClr val="4A9E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A96E">
                    <a:alpha val="6000"/>
                  </a:srgbClr>
                </a:gs>
                <a:gs pos="100000">
                  <a:srgbClr val="C9A96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375285"/>
            <a:ext cx="2709100" cy="548640"/>
            <a:chOff x="571500" y="375285"/>
            <a:chExt cx="2709100" cy="548640"/>
          </a:xfrm>
        </p:grpSpPr>
        <p:sp>
          <p:nvSpPr>
            <p:cNvPr id="6" name="Rectangle 6"/>
            <p:cNvSpPr/>
            <p:nvPr/>
          </p:nvSpPr>
          <p:spPr>
            <a:xfrm>
              <a:off x="571500" y="381000"/>
              <a:ext cx="38100" cy="3429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375285"/>
              <a:ext cx="25528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6EDF3"/>
                  </a:solidFill>
                  <a:latin typeface="Georgia"/>
                  <a:ea typeface="SimSun"/>
                  <a:cs typeface="Georgia"/>
                </a:rPr>
                <a:t>两种生存模式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143000"/>
            <a:ext cx="5334000" cy="4572000"/>
            <a:chOff x="571500" y="1143000"/>
            <a:chExt cx="5334000" cy="4572000"/>
          </a:xfrm>
        </p:grpSpPr>
        <p:sp>
          <p:nvSpPr>
            <p:cNvPr id="9" name="Rectangle 9"/>
            <p:cNvSpPr/>
            <p:nvPr/>
          </p:nvSpPr>
          <p:spPr>
            <a:xfrm>
              <a:off x="571500" y="1143000"/>
              <a:ext cx="5334000" cy="4572000"/>
            </a:xfrm>
            <a:prstGeom prst="roundRect">
              <a:avLst>
                <a:gd name="adj" fmla="val 3333"/>
              </a:avLst>
            </a:prstGeom>
            <a:solidFill>
              <a:srgbClr val="161B22"/>
            </a:solidFill>
            <a:ln w="9525">
              <a:solidFill>
                <a:srgbClr val="4A9EFF">
                  <a:alpha val="30000"/>
                </a:srgbClr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14300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4A9EFF">
                <a:alpha val="60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81075" y="152400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95729" y="382702"/>
                  </a:moveTo>
                  <a:lnTo>
                    <a:pt x="200025" y="457200"/>
                  </a:lnTo>
                  <a:lnTo>
                    <a:pt x="304321" y="382702"/>
                  </a:lnTo>
                  <a:cubicBezTo>
                    <a:pt x="364397" y="339791"/>
                    <a:pt x="400050" y="270510"/>
                    <a:pt x="400050" y="196683"/>
                  </a:cubicBezTo>
                  <a:lnTo>
                    <a:pt x="400050" y="85725"/>
                  </a:lnTo>
                  <a:lnTo>
                    <a:pt x="200025" y="0"/>
                  </a:lnTo>
                  <a:lnTo>
                    <a:pt x="0" y="85725"/>
                  </a:lnTo>
                  <a:lnTo>
                    <a:pt x="0" y="196683"/>
                  </a:lnTo>
                  <a:cubicBezTo>
                    <a:pt x="0" y="270510"/>
                    <a:pt x="35654" y="339791"/>
                    <a:pt x="95729" y="382702"/>
                  </a:cubicBezTo>
                  <a:close/>
                </a:path>
              </a:pathLst>
            </a:custGeom>
            <a:solidFill>
              <a:srgbClr val="4A9E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31620" y="1598295"/>
              <a:ext cx="116509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A9EFF"/>
                  </a:solidFill>
                  <a:latin typeface="Georgia"/>
                  <a:ea typeface="SimSun"/>
                  <a:cs typeface="Georgia"/>
                </a:rPr>
                <a:t>钢化膜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7260" y="21564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隔绝世界，保护自己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52500" y="2571750"/>
              <a:ext cx="4572000" cy="9525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1545" y="2774632"/>
              <a:ext cx="15221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A9EFF"/>
                  </a:solidFill>
                  <a:latin typeface="Arial"/>
                  <a:ea typeface="Microsoft YaHei"/>
                  <a:cs typeface="Arial"/>
                </a:rPr>
                <a:t>AI替你做一切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5355" y="3283268"/>
              <a:ext cx="23411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• 不需要思考，AI给你答案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355" y="3607118"/>
              <a:ext cx="23411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• 不需要记忆，AI替你搜索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5355" y="3930968"/>
              <a:ext cx="23411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• 不需要判断，AI帮你决策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4254818"/>
              <a:ext cx="23411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• 不需要体验，AI描述给你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2500" y="4953000"/>
              <a:ext cx="4572000" cy="533400"/>
            </a:xfrm>
            <a:prstGeom prst="roundRect">
              <a:avLst>
                <a:gd name="adj" fmla="val 17857"/>
              </a:avLst>
            </a:prstGeom>
            <a:solidFill>
              <a:srgbClr val="4A9EFF">
                <a:alpha val="8000"/>
              </a:srgbClr>
            </a:solidFill>
            <a:ln w="9525">
              <a:solidFill>
                <a:srgbClr val="4A9EFF">
                  <a:alpha val="20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79200" y="5140642"/>
              <a:ext cx="2518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9EFF"/>
                  </a:solidFill>
                  <a:latin typeface="Arial"/>
                  <a:ea typeface="Microsoft YaHei"/>
                  <a:cs typeface="Arial"/>
                </a:rPr>
                <a:t>结果：能力退化，依赖加深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98321" y="1714500"/>
            <a:ext cx="195358" cy="3429000"/>
            <a:chOff x="5998321" y="1714500"/>
            <a:chExt cx="195358" cy="3429000"/>
          </a:xfrm>
        </p:grpSpPr>
        <p:sp>
          <p:nvSpPr>
            <p:cNvPr id="23" name="Rectangle 23"/>
            <p:cNvSpPr/>
            <p:nvPr/>
          </p:nvSpPr>
          <p:spPr>
            <a:xfrm>
              <a:off x="6048375" y="1714500"/>
              <a:ext cx="95250" cy="3429000"/>
            </a:xfrm>
            <a:prstGeom prst="roundRect">
              <a:avLst>
                <a:gd name="adj" fmla="val 50000"/>
              </a:avLst>
            </a:prstGeom>
            <a:solidFill>
              <a:srgbClr val="8B5CF6">
                <a:alpha val="15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98321" y="341090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5CF6"/>
                  </a:solidFill>
                  <a:latin typeface="Georgia"/>
                  <a:ea typeface="SimSun"/>
                  <a:cs typeface="Georgia"/>
                </a:rPr>
                <a:t>VS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1143000"/>
            <a:ext cx="5334000" cy="4572000"/>
            <a:chOff x="6286500" y="1143000"/>
            <a:chExt cx="5334000" cy="45720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143000"/>
              <a:ext cx="5334000" cy="4572000"/>
            </a:xfrm>
            <a:prstGeom prst="roundRect">
              <a:avLst>
                <a:gd name="adj" fmla="val 3333"/>
              </a:avLst>
            </a:prstGeom>
            <a:solidFill>
              <a:srgbClr val="161B22"/>
            </a:solidFill>
            <a:ln w="9525">
              <a:solidFill>
                <a:srgbClr val="C9A96E">
                  <a:alpha val="30000"/>
                </a:srgbClr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14300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C9A96E">
                <a:alpha val="60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724650" y="1524000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200025" y="200025"/>
                  </a:moveTo>
                  <a:lnTo>
                    <a:pt x="228600" y="0"/>
                  </a:lnTo>
                  <a:lnTo>
                    <a:pt x="171450" y="0"/>
                  </a:lnTo>
                  <a:lnTo>
                    <a:pt x="0" y="200025"/>
                  </a:lnTo>
                  <a:lnTo>
                    <a:pt x="0" y="257175"/>
                  </a:lnTo>
                  <a:lnTo>
                    <a:pt x="142875" y="257175"/>
                  </a:lnTo>
                  <a:lnTo>
                    <a:pt x="114300" y="457200"/>
                  </a:lnTo>
                  <a:lnTo>
                    <a:pt x="171450" y="457200"/>
                  </a:lnTo>
                  <a:lnTo>
                    <a:pt x="342900" y="257175"/>
                  </a:lnTo>
                  <a:lnTo>
                    <a:pt x="342900" y="200025"/>
                  </a:lnTo>
                  <a:lnTo>
                    <a:pt x="200025" y="200025"/>
                  </a:lnTo>
                  <a:close/>
                </a:path>
              </a:pathLst>
            </a:custGeom>
            <a:solidFill>
              <a:srgbClr val="C9A96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46620" y="1598295"/>
              <a:ext cx="116509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磨刀石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2260" y="2156460"/>
              <a:ext cx="10557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用AI打磨自己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67500" y="2571750"/>
              <a:ext cx="4572000" cy="9525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46545" y="277463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保持与世界摩擦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0355" y="3283268"/>
              <a:ext cx="27354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• AI给答案，但你要理解为什么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0355" y="3607118"/>
              <a:ext cx="23411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• AI提效，但你保留判断力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0355" y="3930968"/>
              <a:ext cx="21439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• AI辅助，但你亲自下场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0355" y="4254818"/>
              <a:ext cx="13848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• 体验不可外包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67500" y="4953000"/>
              <a:ext cx="4572000" cy="533400"/>
            </a:xfrm>
            <a:prstGeom prst="roundRect">
              <a:avLst>
                <a:gd name="adj" fmla="val 17857"/>
              </a:avLst>
            </a:prstGeom>
            <a:solidFill>
              <a:srgbClr val="C9A96E">
                <a:alpha val="8000"/>
              </a:srgbClr>
            </a:solidFill>
            <a:ln w="9525">
              <a:solidFill>
                <a:srgbClr val="C9A96E">
                  <a:alpha val="2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94200" y="5140642"/>
              <a:ext cx="2518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结果：能力增长，体验积累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84F5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D111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A9EFF">
                    <a:alpha val="8000"/>
                  </a:srgbClr>
                </a:gs>
                <a:gs pos="100000">
                  <a:srgbClr val="4A9E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A96E">
                    <a:alpha val="8000"/>
                  </a:srgbClr>
                </a:gs>
                <a:gs pos="100000">
                  <a:srgbClr val="C9A96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375285"/>
            <a:ext cx="3951256" cy="691515"/>
            <a:chOff x="571500" y="375285"/>
            <a:chExt cx="3951256" cy="691515"/>
          </a:xfrm>
        </p:grpSpPr>
        <p:sp>
          <p:nvSpPr>
            <p:cNvPr id="6" name="Rectangle 6"/>
            <p:cNvSpPr/>
            <p:nvPr/>
          </p:nvSpPr>
          <p:spPr>
            <a:xfrm>
              <a:off x="571500" y="381000"/>
              <a:ext cx="38100" cy="3429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375285"/>
              <a:ext cx="379504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6EDF3"/>
                  </a:solidFill>
                  <a:latin typeface="Georgia"/>
                  <a:ea typeface="SimSun"/>
                  <a:cs typeface="Georgia"/>
                </a:rPr>
                <a:t>智能与智慧是两回事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822960"/>
              <a:ext cx="23439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Rose的论点比李继刚的更锋利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238250"/>
            <a:ext cx="4953000" cy="3810000"/>
            <a:chOff x="571500" y="1238250"/>
            <a:chExt cx="49530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238250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161B22"/>
            </a:solidFill>
            <a:ln w="9525">
              <a:solidFill>
                <a:srgbClr val="4A9EFF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1238250"/>
              <a:ext cx="4953000" cy="57150"/>
            </a:xfrm>
            <a:prstGeom prst="roundRect">
              <a:avLst>
                <a:gd name="adj" fmla="val 50000"/>
              </a:avLst>
            </a:prstGeom>
            <a:solidFill>
              <a:srgbClr val="4A9EFF">
                <a:alpha val="50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52500" y="1619250"/>
              <a:ext cx="381000" cy="357188"/>
            </a:xfrm>
            <a:custGeom>
              <a:avLst/>
              <a:gdLst/>
              <a:ahLst/>
              <a:cxnLst/>
              <a:rect l="l" t="t" r="r" b="b"/>
              <a:pathLst>
                <a:path w="381000" h="357188">
                  <a:moveTo>
                    <a:pt x="214312" y="0"/>
                  </a:moveTo>
                  <a:lnTo>
                    <a:pt x="214312" y="47625"/>
                  </a:lnTo>
                  <a:lnTo>
                    <a:pt x="309562" y="47625"/>
                  </a:lnTo>
                  <a:lnTo>
                    <a:pt x="381000" y="202406"/>
                  </a:lnTo>
                  <a:lnTo>
                    <a:pt x="309562" y="357188"/>
                  </a:lnTo>
                  <a:lnTo>
                    <a:pt x="71438" y="357188"/>
                  </a:lnTo>
                  <a:lnTo>
                    <a:pt x="0" y="202406"/>
                  </a:lnTo>
                  <a:lnTo>
                    <a:pt x="71438" y="47625"/>
                  </a:lnTo>
                  <a:lnTo>
                    <a:pt x="166688" y="47625"/>
                  </a:lnTo>
                  <a:lnTo>
                    <a:pt x="166688" y="0"/>
                  </a:lnTo>
                  <a:lnTo>
                    <a:pt x="214312" y="0"/>
                  </a:lnTo>
                  <a:close/>
                  <a:moveTo>
                    <a:pt x="109488" y="279521"/>
                  </a:moveTo>
                  <a:lnTo>
                    <a:pt x="190500" y="291984"/>
                  </a:lnTo>
                  <a:lnTo>
                    <a:pt x="271513" y="279521"/>
                  </a:lnTo>
                  <a:lnTo>
                    <a:pt x="264269" y="232449"/>
                  </a:lnTo>
                  <a:lnTo>
                    <a:pt x="190500" y="243797"/>
                  </a:lnTo>
                  <a:lnTo>
                    <a:pt x="116730" y="232449"/>
                  </a:lnTo>
                  <a:lnTo>
                    <a:pt x="109488" y="279521"/>
                  </a:lnTo>
                  <a:close/>
                  <a:moveTo>
                    <a:pt x="166688" y="160734"/>
                  </a:moveTo>
                  <a:cubicBezTo>
                    <a:pt x="166688" y="177174"/>
                    <a:pt x="153361" y="190500"/>
                    <a:pt x="136922" y="190500"/>
                  </a:cubicBezTo>
                  <a:cubicBezTo>
                    <a:pt x="120483" y="190500"/>
                    <a:pt x="107156" y="177174"/>
                    <a:pt x="107156" y="160734"/>
                  </a:cubicBezTo>
                  <a:cubicBezTo>
                    <a:pt x="107156" y="144295"/>
                    <a:pt x="120483" y="130969"/>
                    <a:pt x="136922" y="130969"/>
                  </a:cubicBezTo>
                  <a:cubicBezTo>
                    <a:pt x="153361" y="130969"/>
                    <a:pt x="166688" y="144295"/>
                    <a:pt x="166688" y="160734"/>
                  </a:cubicBezTo>
                  <a:close/>
                  <a:moveTo>
                    <a:pt x="244078" y="190500"/>
                  </a:moveTo>
                  <a:cubicBezTo>
                    <a:pt x="260518" y="190500"/>
                    <a:pt x="273844" y="177174"/>
                    <a:pt x="273844" y="160734"/>
                  </a:cubicBezTo>
                  <a:cubicBezTo>
                    <a:pt x="273844" y="144295"/>
                    <a:pt x="260518" y="130969"/>
                    <a:pt x="244078" y="130969"/>
                  </a:cubicBezTo>
                  <a:cubicBezTo>
                    <a:pt x="227639" y="130969"/>
                    <a:pt x="214312" y="144295"/>
                    <a:pt x="214312" y="160734"/>
                  </a:cubicBezTo>
                  <a:cubicBezTo>
                    <a:pt x="214312" y="177174"/>
                    <a:pt x="227639" y="190500"/>
                    <a:pt x="244078" y="190500"/>
                  </a:cubicBezTo>
                  <a:close/>
                </a:path>
              </a:pathLst>
            </a:custGeom>
            <a:solidFill>
              <a:srgbClr val="4A9E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32560" y="1613535"/>
              <a:ext cx="8966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4A9EFF"/>
                  </a:solidFill>
                  <a:latin typeface="Georgia"/>
                  <a:ea typeface="SimSun"/>
                  <a:cs typeface="Georgia"/>
                </a:rPr>
                <a:t>智能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5355" y="2140268"/>
              <a:ext cx="11384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Intelligence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2571750"/>
              <a:ext cx="4191000" cy="9525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1545" y="277463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6EDF3"/>
                  </a:solidFill>
                  <a:latin typeface="Arial"/>
                  <a:ea typeface="Microsoft YaHei"/>
                  <a:cs typeface="Arial"/>
                </a:rPr>
                <a:t>处理已有的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355" y="3235642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从信息中</a:t>
              </a:r>
              <a:r>
                <a:rPr lang="zh-CN" sz="1350" dirty="0">
                  <a:solidFill>
                    <a:srgbClr val="4A9EFF"/>
                  </a:solidFill>
                  <a:latin typeface="Arial"/>
                  <a:ea typeface="Microsoft YaHei"/>
                  <a:cs typeface="Arial"/>
                </a:rPr>
                <a:t>提取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5355" y="3578542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算力的</a:t>
              </a:r>
              <a:r>
                <a:rPr lang="zh-CN" sz="1350" dirty="0">
                  <a:solidFill>
                    <a:srgbClr val="4A9EFF"/>
                  </a:solidFill>
                  <a:latin typeface="Arial"/>
                  <a:ea typeface="Microsoft YaHei"/>
                  <a:cs typeface="Arial"/>
                </a:rPr>
                <a:t>产物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3921442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描述的</a:t>
              </a:r>
              <a:r>
                <a:rPr lang="zh-CN" sz="1350" dirty="0">
                  <a:solidFill>
                    <a:srgbClr val="4A9EFF"/>
                  </a:solidFill>
                  <a:latin typeface="Arial"/>
                  <a:ea typeface="Microsoft YaHei"/>
                  <a:cs typeface="Arial"/>
                </a:rPr>
                <a:t>精确度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2500" y="447675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A9EFF">
                <a:alpha val="10000"/>
              </a:srgbClr>
            </a:solidFill>
            <a:ln w="9525">
              <a:solidFill>
                <a:srgbClr val="4A9EFF">
                  <a:alpha val="30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66076" y="4583906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9EFF"/>
                  </a:solidFill>
                  <a:latin typeface="Arial"/>
                  <a:ea typeface="Microsoft YaHei"/>
                  <a:cs typeface="Arial"/>
                </a:rPr>
                <a:t>AI拥有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22608" y="2476500"/>
            <a:ext cx="946785" cy="1357312"/>
            <a:chOff x="5622608" y="2476500"/>
            <a:chExt cx="946785" cy="1357312"/>
          </a:xfrm>
        </p:grpSpPr>
        <p:sp>
          <p:nvSpPr>
            <p:cNvPr id="23" name="Rectangle 23"/>
            <p:cNvSpPr/>
            <p:nvPr/>
          </p:nvSpPr>
          <p:spPr>
            <a:xfrm>
              <a:off x="5762625" y="2476500"/>
              <a:ext cx="666750" cy="666750"/>
            </a:xfrm>
            <a:prstGeom prst="roundRect">
              <a:avLst>
                <a:gd name="adj" fmla="val 50000"/>
              </a:avLst>
            </a:prstGeom>
            <a:solidFill>
              <a:srgbClr val="0D1117"/>
            </a:solidFill>
            <a:ln w="19050">
              <a:solidFill>
                <a:srgbClr val="8B5CF6">
                  <a:alpha val="50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84986" y="2668905"/>
              <a:ext cx="2220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8B5CF6"/>
                  </a:solidFill>
                  <a:latin typeface="Georgia"/>
                  <a:ea typeface="SimSun"/>
                  <a:cs typeface="Georgia"/>
                </a:rPr>
                <a:t>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22608" y="3410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5CF6"/>
                  </a:solidFill>
                  <a:latin typeface="Georgia"/>
                  <a:ea typeface="SimSun"/>
                  <a:cs typeface="Georgia"/>
                </a:rPr>
                <a:t>不是同一谱系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75960" y="36204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5CF6"/>
                  </a:solidFill>
                  <a:latin typeface="Georgia"/>
                  <a:ea typeface="SimSun"/>
                  <a:cs typeface="Georgia"/>
                </a:rPr>
                <a:t>上的强弱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67500" y="1238250"/>
            <a:ext cx="4953000" cy="3810000"/>
            <a:chOff x="6667500" y="1238250"/>
            <a:chExt cx="4953000" cy="3810000"/>
          </a:xfrm>
        </p:grpSpPr>
        <p:sp>
          <p:nvSpPr>
            <p:cNvPr id="28" name="Rectangle 28"/>
            <p:cNvSpPr/>
            <p:nvPr/>
          </p:nvSpPr>
          <p:spPr>
            <a:xfrm>
              <a:off x="6667500" y="1238250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161B22"/>
            </a:solidFill>
            <a:ln w="9525">
              <a:solidFill>
                <a:srgbClr val="C9A96E">
                  <a:alpha val="20000"/>
                </a:srgbClr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67500" y="1238250"/>
              <a:ext cx="4953000" cy="57150"/>
            </a:xfrm>
            <a:prstGeom prst="roundRect">
              <a:avLst>
                <a:gd name="adj" fmla="val 50000"/>
              </a:avLst>
            </a:prstGeom>
            <a:solidFill>
              <a:srgbClr val="C9A96E">
                <a:alpha val="50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048500" y="1643062"/>
              <a:ext cx="381000" cy="333375"/>
            </a:xfrm>
            <a:custGeom>
              <a:avLst/>
              <a:gdLst/>
              <a:ahLst/>
              <a:cxnLst/>
              <a:rect l="l" t="t" r="r" b="b"/>
              <a:pathLst>
                <a:path w="381000" h="333375">
                  <a:moveTo>
                    <a:pt x="29590" y="172465"/>
                  </a:moveTo>
                  <a:lnTo>
                    <a:pt x="190500" y="333375"/>
                  </a:lnTo>
                  <a:lnTo>
                    <a:pt x="351411" y="172465"/>
                  </a:lnTo>
                  <a:cubicBezTo>
                    <a:pt x="370356" y="153519"/>
                    <a:pt x="381000" y="127822"/>
                    <a:pt x="381000" y="101028"/>
                  </a:cubicBezTo>
                  <a:lnTo>
                    <a:pt x="381000" y="96496"/>
                  </a:lnTo>
                  <a:cubicBezTo>
                    <a:pt x="381000" y="43203"/>
                    <a:pt x="337797" y="0"/>
                    <a:pt x="284505" y="0"/>
                  </a:cubicBezTo>
                  <a:cubicBezTo>
                    <a:pt x="255189" y="0"/>
                    <a:pt x="227465" y="13325"/>
                    <a:pt x="209153" y="36215"/>
                  </a:cubicBezTo>
                  <a:lnTo>
                    <a:pt x="190500" y="59531"/>
                  </a:lnTo>
                  <a:lnTo>
                    <a:pt x="171847" y="36215"/>
                  </a:lnTo>
                  <a:cubicBezTo>
                    <a:pt x="153535" y="13325"/>
                    <a:pt x="125810" y="0"/>
                    <a:pt x="96496" y="0"/>
                  </a:cubicBezTo>
                  <a:cubicBezTo>
                    <a:pt x="43203" y="0"/>
                    <a:pt x="0" y="43203"/>
                    <a:pt x="0" y="96496"/>
                  </a:cubicBezTo>
                  <a:lnTo>
                    <a:pt x="0" y="101028"/>
                  </a:lnTo>
                  <a:cubicBezTo>
                    <a:pt x="0" y="127822"/>
                    <a:pt x="10644" y="153519"/>
                    <a:pt x="29590" y="172465"/>
                  </a:cubicBezTo>
                  <a:close/>
                </a:path>
              </a:pathLst>
            </a:custGeom>
            <a:solidFill>
              <a:srgbClr val="C9A96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28560" y="1613535"/>
              <a:ext cx="8966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智慧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31355" y="2140268"/>
              <a:ext cx="7145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Wisdom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048500" y="2571750"/>
              <a:ext cx="4191000" cy="9525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27545" y="2774632"/>
              <a:ext cx="20661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6EDF3"/>
                  </a:solidFill>
                  <a:latin typeface="Arial"/>
                  <a:ea typeface="Microsoft YaHei"/>
                  <a:cs typeface="Arial"/>
                </a:rPr>
                <a:t>从经历中生出新的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31355" y="3235642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从参与中</a:t>
              </a:r>
              <a:r>
                <a:rPr lang="zh-CN" sz="1350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生成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31355" y="3578542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体验的</a:t>
              </a:r>
              <a:r>
                <a:rPr lang="zh-CN" sz="1350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痕迹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31355" y="3921442"/>
              <a:ext cx="16313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有没有</a:t>
              </a:r>
              <a:r>
                <a:rPr lang="zh-CN" sz="1350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"经过身体"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048500" y="447675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C9A96E">
                <a:alpha val="10000"/>
              </a:srgbClr>
            </a:solidFill>
            <a:ln w="9525">
              <a:solidFill>
                <a:srgbClr val="C9A96E">
                  <a:alpha val="30000"/>
                </a:srgbClr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62076" y="4583906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AI没有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5429250"/>
            <a:ext cx="11049000" cy="666750"/>
            <a:chOff x="571500" y="5429250"/>
            <a:chExt cx="11049000" cy="666750"/>
          </a:xfrm>
        </p:grpSpPr>
        <p:sp>
          <p:nvSpPr>
            <p:cNvPr id="41" name="Rectangle 41"/>
            <p:cNvSpPr/>
            <p:nvPr/>
          </p:nvSpPr>
          <p:spPr>
            <a:xfrm>
              <a:off x="571500" y="542925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5CF6">
                <a:alpha val="6000"/>
              </a:srgbClr>
            </a:solidFill>
            <a:ln w="9525">
              <a:solidFill>
                <a:srgbClr val="8B5CF6">
                  <a:alpha val="20000"/>
                </a:srgbClr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00100" y="5619750"/>
              <a:ext cx="266700" cy="266700"/>
              <a:chOff x="800100" y="5619750"/>
              <a:chExt cx="266700" cy="2667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33450" y="5619750"/>
                <a:ext cx="116681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16681">
                    <a:moveTo>
                      <a:pt x="0" y="50006"/>
                    </a:moveTo>
                    <a:lnTo>
                      <a:pt x="41672" y="41672"/>
                    </a:lnTo>
                    <a:lnTo>
                      <a:pt x="50006" y="0"/>
                    </a:lnTo>
                    <a:lnTo>
                      <a:pt x="66675" y="0"/>
                    </a:lnTo>
                    <a:lnTo>
                      <a:pt x="75009" y="41672"/>
                    </a:lnTo>
                    <a:lnTo>
                      <a:pt x="116681" y="50006"/>
                    </a:lnTo>
                    <a:lnTo>
                      <a:pt x="116681" y="66675"/>
                    </a:lnTo>
                    <a:lnTo>
                      <a:pt x="75009" y="75009"/>
                    </a:lnTo>
                    <a:lnTo>
                      <a:pt x="66675" y="116681"/>
                    </a:lnTo>
                    <a:lnTo>
                      <a:pt x="50006" y="116681"/>
                    </a:lnTo>
                    <a:lnTo>
                      <a:pt x="41672" y="75009"/>
                    </a:lnTo>
                    <a:lnTo>
                      <a:pt x="0" y="66675"/>
                    </a:lnTo>
                    <a:lnTo>
                      <a:pt x="0" y="50006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00100" y="5703094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0" y="100012"/>
                    </a:moveTo>
                    <a:lnTo>
                      <a:pt x="0" y="83344"/>
                    </a:lnTo>
                    <a:lnTo>
                      <a:pt x="66675" y="66675"/>
                    </a:lnTo>
                    <a:lnTo>
                      <a:pt x="83344" y="0"/>
                    </a:lnTo>
                    <a:lnTo>
                      <a:pt x="100012" y="0"/>
                    </a:lnTo>
                    <a:lnTo>
                      <a:pt x="116681" y="66675"/>
                    </a:lnTo>
                    <a:lnTo>
                      <a:pt x="183356" y="83344"/>
                    </a:lnTo>
                    <a:lnTo>
                      <a:pt x="183356" y="100012"/>
                    </a:lnTo>
                    <a:lnTo>
                      <a:pt x="116681" y="116681"/>
                    </a:lnTo>
                    <a:lnTo>
                      <a:pt x="100012" y="183356"/>
                    </a:lnTo>
                    <a:lnTo>
                      <a:pt x="83344" y="183356"/>
                    </a:lnTo>
                    <a:lnTo>
                      <a:pt x="66675" y="116681"/>
                    </a:lnTo>
                    <a:lnTo>
                      <a:pt x="0" y="100012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6769" y="5628084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0" y="25003"/>
                    </a:moveTo>
                    <a:lnTo>
                      <a:pt x="25003" y="0"/>
                    </a:lnTo>
                    <a:lnTo>
                      <a:pt x="50006" y="25003"/>
                    </a:lnTo>
                    <a:lnTo>
                      <a:pt x="25003" y="50006"/>
                    </a:lnTo>
                    <a:lnTo>
                      <a:pt x="0" y="25003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83456" y="58197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33338" y="0"/>
                    </a:lnTo>
                    <a:lnTo>
                      <a:pt x="0" y="33338"/>
                    </a:lnTo>
                    <a:lnTo>
                      <a:pt x="33338" y="66675"/>
                    </a:lnTo>
                    <a:lnTo>
                      <a:pt x="66675" y="33338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33462" y="575310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16669" y="33338"/>
                    </a:move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  <a:cubicBezTo>
                      <a:pt x="0" y="25875"/>
                      <a:pt x="7463" y="33338"/>
                      <a:pt x="16669" y="33338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200150" y="5676900"/>
              <a:ext cx="48917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5CF6"/>
                  </a:solidFill>
                  <a:latin typeface="Georgia"/>
                  <a:ea typeface="SimSun"/>
                  <a:cs typeface="Georgia"/>
                </a:rPr>
                <a:t>区别不在于输出质量，而在于有没有"经过身体"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84F58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/>
      <p:bldP spid="40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D111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A96E">
                    <a:alpha val="8000"/>
                  </a:srgbClr>
                </a:gs>
                <a:gs pos="100000">
                  <a:srgbClr val="C9A96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A9EFF">
                    <a:alpha val="5000"/>
                  </a:srgbClr>
                </a:gs>
                <a:gs pos="100000">
                  <a:srgbClr val="4A9E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656005" y="2359342"/>
            <a:ext cx="4879991" cy="1150620"/>
            <a:chOff x="3656005" y="2359342"/>
            <a:chExt cx="4879991" cy="1150620"/>
          </a:xfrm>
        </p:grpSpPr>
        <p:sp>
          <p:nvSpPr>
            <p:cNvPr id="6" name="TextBox 6"/>
            <p:cNvSpPr txBox="1"/>
            <p:nvPr/>
          </p:nvSpPr>
          <p:spPr>
            <a:xfrm>
              <a:off x="3656005" y="2359342"/>
              <a:ext cx="487999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智慧不是从信息中提取的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11586" y="2930842"/>
              <a:ext cx="356882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是从参与中生成的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0" y="3810000"/>
            <a:ext cx="3048000" cy="9525"/>
            <a:chOff x="4572000" y="3810000"/>
            <a:chExt cx="3048000" cy="9525"/>
          </a:xfrm>
        </p:grpSpPr>
        <p:sp>
          <p:nvSpPr>
            <p:cNvPr id="9" name="Line 9"/>
            <p:cNvSpPr/>
            <p:nvPr/>
          </p:nvSpPr>
          <p:spPr>
            <a:xfrm>
              <a:off x="4572000" y="3810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30363D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094321" y="4191000"/>
            <a:ext cx="4003357" cy="904875"/>
            <a:chOff x="4094321" y="4191000"/>
            <a:chExt cx="4003357" cy="904875"/>
          </a:xfrm>
        </p:grpSpPr>
        <p:grpSp>
          <p:nvGrpSpPr>
            <p:cNvPr id="15" name="Group 15"/>
            <p:cNvGrpSpPr/>
            <p:nvPr/>
          </p:nvGrpSpPr>
          <p:grpSpPr>
            <a:xfrm>
              <a:off x="4667250" y="4191000"/>
              <a:ext cx="342900" cy="342900"/>
              <a:chOff x="4667250" y="4191000"/>
              <a:chExt cx="342900" cy="3429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4667250" y="4191000"/>
                <a:ext cx="342900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92881">
                    <a:moveTo>
                      <a:pt x="171450" y="0"/>
                    </a:moveTo>
                    <a:cubicBezTo>
                      <a:pt x="218794" y="0"/>
                      <a:pt x="257175" y="38380"/>
                      <a:pt x="257175" y="85725"/>
                    </a:cubicBezTo>
                    <a:lnTo>
                      <a:pt x="257175" y="107156"/>
                    </a:lnTo>
                    <a:cubicBezTo>
                      <a:pt x="304519" y="107156"/>
                      <a:pt x="342900" y="145537"/>
                      <a:pt x="342900" y="192881"/>
                    </a:cubicBezTo>
                    <a:lnTo>
                      <a:pt x="0" y="192881"/>
                    </a:lnTo>
                    <a:lnTo>
                      <a:pt x="0" y="171450"/>
                    </a:lnTo>
                    <a:cubicBezTo>
                      <a:pt x="0" y="124105"/>
                      <a:pt x="38380" y="85725"/>
                      <a:pt x="85725" y="85725"/>
                    </a:cubicBezTo>
                    <a:cubicBezTo>
                      <a:pt x="85725" y="38380"/>
                      <a:pt x="124105" y="0"/>
                      <a:pt x="171450" y="0"/>
                    </a:cubicBezTo>
                    <a:close/>
                  </a:path>
                </a:pathLst>
              </a:custGeom>
              <a:solidFill>
                <a:srgbClr val="4A9EFF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710112" y="4426744"/>
                <a:ext cx="64294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107156">
                    <a:moveTo>
                      <a:pt x="42862" y="107156"/>
                    </a:moveTo>
                    <a:lnTo>
                      <a:pt x="64294" y="0"/>
                    </a:lnTo>
                    <a:lnTo>
                      <a:pt x="21431" y="0"/>
                    </a:lnTo>
                    <a:lnTo>
                      <a:pt x="0" y="107156"/>
                    </a:lnTo>
                    <a:lnTo>
                      <a:pt x="42862" y="107156"/>
                    </a:lnTo>
                    <a:close/>
                  </a:path>
                </a:pathLst>
              </a:custGeom>
              <a:solidFill>
                <a:srgbClr val="4A9EFF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795838" y="4426744"/>
                <a:ext cx="64294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107156">
                    <a:moveTo>
                      <a:pt x="42862" y="107156"/>
                    </a:moveTo>
                    <a:lnTo>
                      <a:pt x="64294" y="0"/>
                    </a:lnTo>
                    <a:lnTo>
                      <a:pt x="21431" y="0"/>
                    </a:lnTo>
                    <a:lnTo>
                      <a:pt x="0" y="107156"/>
                    </a:lnTo>
                    <a:lnTo>
                      <a:pt x="42862" y="107156"/>
                    </a:lnTo>
                    <a:close/>
                  </a:path>
                </a:pathLst>
              </a:custGeom>
              <a:solidFill>
                <a:srgbClr val="4A9EFF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881562" y="4426744"/>
                <a:ext cx="64294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107156">
                    <a:moveTo>
                      <a:pt x="64294" y="0"/>
                    </a:moveTo>
                    <a:lnTo>
                      <a:pt x="42862" y="107156"/>
                    </a:lnTo>
                    <a:lnTo>
                      <a:pt x="0" y="107156"/>
                    </a:lnTo>
                    <a:lnTo>
                      <a:pt x="21431" y="0"/>
                    </a:lnTo>
                    <a:lnTo>
                      <a:pt x="64294" y="0"/>
                    </a:lnTo>
                    <a:close/>
                  </a:path>
                </a:pathLst>
              </a:custGeom>
              <a:solidFill>
                <a:srgbClr val="4A9EFF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5122545" y="4279582"/>
              <a:ext cx="2451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模拟下雨，地面不会湿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4321" y="4791075"/>
              <a:ext cx="40033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6EDF3"/>
                  </a:solidFill>
                  <a:latin typeface="Georgia"/>
                  <a:ea typeface="SimSun"/>
                  <a:cs typeface="Georgia"/>
                </a:rPr>
                <a:t>不是湿得不够，是根本不存在"湿"这回事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857500" y="5524500"/>
            <a:ext cx="6477000" cy="571500"/>
            <a:chOff x="2857500" y="5524500"/>
            <a:chExt cx="6477000" cy="571500"/>
          </a:xfrm>
        </p:grpSpPr>
        <p:sp>
          <p:nvSpPr>
            <p:cNvPr id="19" name="Rectangle 19"/>
            <p:cNvSpPr/>
            <p:nvPr/>
          </p:nvSpPr>
          <p:spPr>
            <a:xfrm>
              <a:off x="2857500" y="5524500"/>
              <a:ext cx="6477000" cy="571500"/>
            </a:xfrm>
            <a:prstGeom prst="roundRect">
              <a:avLst>
                <a:gd name="adj" fmla="val 20000"/>
              </a:avLst>
            </a:prstGeom>
            <a:solidFill>
              <a:srgbClr val="161B22"/>
            </a:solidFill>
            <a:ln w="9525">
              <a:solidFill>
                <a:srgbClr val="F85149">
                  <a:alpha val="3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90296" y="5740718"/>
              <a:ext cx="4411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85149"/>
                  </a:solidFill>
                  <a:latin typeface="Georgia"/>
                  <a:ea typeface="SimSun"/>
                  <a:cs typeface="Georgia"/>
                </a:rPr>
                <a:t>算力解决的是"描述多精确"，体验是"有没有发生"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84F58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8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5285"/>
            <a:ext cx="2282571" cy="691515"/>
            <a:chOff x="571500" y="375285"/>
            <a:chExt cx="2282571" cy="69151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42900"/>
            </a:xfrm>
            <a:prstGeom prst="rect">
              <a:avLst/>
            </a:prstGeom>
            <a:gradFill>
              <a:gsLst>
                <a:gs pos="0">
                  <a:srgbClr val="8B5CF6"/>
                </a:gs>
                <a:gs pos="100000">
                  <a:srgbClr val="4A9E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375285"/>
              <a:ext cx="11244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6EDF3"/>
                  </a:solidFill>
                  <a:latin typeface="Georgia"/>
                  <a:ea typeface="SimSun"/>
                  <a:cs typeface="Georgia"/>
                </a:rPr>
                <a:t>系统0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22960"/>
              <a:ext cx="21073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AI在你思考之前就给了答案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333500"/>
            <a:ext cx="3549869" cy="4572000"/>
            <a:chOff x="571500" y="1333500"/>
            <a:chExt cx="3549869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3238500" cy="4572000"/>
            </a:xfrm>
            <a:prstGeom prst="roundRect">
              <a:avLst>
                <a:gd name="adj" fmla="val 4706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619250"/>
              <a:ext cx="2667000" cy="666750"/>
            </a:xfrm>
            <a:prstGeom prst="roundRect">
              <a:avLst>
                <a:gd name="adj" fmla="val 14286"/>
              </a:avLst>
            </a:prstGeom>
            <a:solidFill>
              <a:srgbClr val="8B5CF6">
                <a:alpha val="15000"/>
              </a:srgbClr>
            </a:solidFill>
            <a:ln w="9525">
              <a:solidFill>
                <a:srgbClr val="8B5CF6">
                  <a:alpha val="40000"/>
                </a:srgbClr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7750" y="1809750"/>
              <a:ext cx="266700" cy="266700"/>
              <a:chOff x="1047750" y="1809750"/>
              <a:chExt cx="266700" cy="2667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81100" y="1809750"/>
                <a:ext cx="116681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16681">
                    <a:moveTo>
                      <a:pt x="0" y="50006"/>
                    </a:moveTo>
                    <a:lnTo>
                      <a:pt x="41672" y="41672"/>
                    </a:lnTo>
                    <a:lnTo>
                      <a:pt x="50006" y="0"/>
                    </a:lnTo>
                    <a:lnTo>
                      <a:pt x="66675" y="0"/>
                    </a:lnTo>
                    <a:lnTo>
                      <a:pt x="75009" y="41672"/>
                    </a:lnTo>
                    <a:lnTo>
                      <a:pt x="116681" y="50006"/>
                    </a:lnTo>
                    <a:lnTo>
                      <a:pt x="116681" y="66675"/>
                    </a:lnTo>
                    <a:lnTo>
                      <a:pt x="75009" y="75009"/>
                    </a:lnTo>
                    <a:lnTo>
                      <a:pt x="66675" y="116681"/>
                    </a:lnTo>
                    <a:lnTo>
                      <a:pt x="50006" y="116681"/>
                    </a:lnTo>
                    <a:lnTo>
                      <a:pt x="41672" y="75009"/>
                    </a:lnTo>
                    <a:lnTo>
                      <a:pt x="0" y="66675"/>
                    </a:lnTo>
                    <a:lnTo>
                      <a:pt x="0" y="50006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7750" y="1893094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0" y="100012"/>
                    </a:moveTo>
                    <a:lnTo>
                      <a:pt x="0" y="83344"/>
                    </a:lnTo>
                    <a:lnTo>
                      <a:pt x="66675" y="66675"/>
                    </a:lnTo>
                    <a:lnTo>
                      <a:pt x="83344" y="0"/>
                    </a:lnTo>
                    <a:lnTo>
                      <a:pt x="100012" y="0"/>
                    </a:lnTo>
                    <a:lnTo>
                      <a:pt x="116681" y="66675"/>
                    </a:lnTo>
                    <a:lnTo>
                      <a:pt x="183356" y="83344"/>
                    </a:lnTo>
                    <a:lnTo>
                      <a:pt x="183356" y="100012"/>
                    </a:lnTo>
                    <a:lnTo>
                      <a:pt x="116681" y="116681"/>
                    </a:lnTo>
                    <a:lnTo>
                      <a:pt x="100012" y="183356"/>
                    </a:lnTo>
                    <a:lnTo>
                      <a:pt x="83344" y="183356"/>
                    </a:lnTo>
                    <a:lnTo>
                      <a:pt x="66675" y="116681"/>
                    </a:lnTo>
                    <a:lnTo>
                      <a:pt x="0" y="100012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64419" y="1818084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0" y="25003"/>
                    </a:moveTo>
                    <a:lnTo>
                      <a:pt x="25003" y="0"/>
                    </a:lnTo>
                    <a:lnTo>
                      <a:pt x="50006" y="25003"/>
                    </a:lnTo>
                    <a:lnTo>
                      <a:pt x="25003" y="50006"/>
                    </a:lnTo>
                    <a:lnTo>
                      <a:pt x="0" y="25003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31106" y="20097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33338" y="0"/>
                    </a:lnTo>
                    <a:lnTo>
                      <a:pt x="0" y="33338"/>
                    </a:lnTo>
                    <a:lnTo>
                      <a:pt x="33338" y="66675"/>
                    </a:lnTo>
                    <a:lnTo>
                      <a:pt x="66675" y="33338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81112" y="194310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16669" y="33338"/>
                    </a:move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  <a:cubicBezTo>
                      <a:pt x="0" y="25875"/>
                      <a:pt x="7463" y="33338"/>
                      <a:pt x="16669" y="33338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09700" y="1857375"/>
              <a:ext cx="1510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系统0：AI预判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190750" y="23622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8B5CF6">
                  <a:alpha val="40000"/>
                </a:srgbClr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114550" y="260985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0"/>
                  </a:moveTo>
                  <a:lnTo>
                    <a:pt x="152400" y="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rgbClr val="8B5CF6">
                <a:alpha val="40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57250" y="2762250"/>
              <a:ext cx="2667000" cy="666750"/>
            </a:xfrm>
            <a:prstGeom prst="roundRect">
              <a:avLst>
                <a:gd name="adj" fmla="val 14286"/>
              </a:avLst>
            </a:prstGeom>
            <a:solidFill>
              <a:srgbClr val="4A9EFF">
                <a:alpha val="10000"/>
              </a:srgbClr>
            </a:solidFill>
            <a:ln w="9525">
              <a:solidFill>
                <a:srgbClr val="4A9EFF">
                  <a:alpha val="3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62124" y="3000375"/>
              <a:ext cx="1257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A9EFF"/>
                  </a:solidFill>
                  <a:latin typeface="Arial"/>
                  <a:ea typeface="Microsoft YaHei"/>
                  <a:cs typeface="Arial"/>
                </a:rPr>
                <a:t>系统1：直觉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190750" y="35052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4A9EFF">
                  <a:alpha val="30000"/>
                </a:srgbClr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114550" y="375285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0"/>
                  </a:moveTo>
                  <a:lnTo>
                    <a:pt x="152400" y="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rgbClr val="4A9EFF">
                <a:alpha val="3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7250" y="3905250"/>
              <a:ext cx="2667000" cy="666750"/>
            </a:xfrm>
            <a:prstGeom prst="roundRect">
              <a:avLst>
                <a:gd name="adj" fmla="val 14286"/>
              </a:avLst>
            </a:prstGeom>
            <a:solidFill>
              <a:srgbClr val="161B22"/>
            </a:solidFill>
            <a:ln w="9525">
              <a:solidFill>
                <a:srgbClr val="8B949E">
                  <a:alpha val="3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44692" y="4143375"/>
              <a:ext cx="16921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系统2：理性思考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3524250" y="1952625"/>
              <a:ext cx="285750" cy="2238375"/>
            </a:xfrm>
            <a:custGeom>
              <a:avLst/>
              <a:gdLst/>
              <a:ahLst/>
              <a:cxnLst/>
              <a:rect l="l" t="t" r="r" b="b"/>
              <a:pathLst>
                <a:path w="285750" h="2238375">
                  <a:moveTo>
                    <a:pt x="0" y="0"/>
                  </a:moveTo>
                  <a:lnTo>
                    <a:pt x="285750" y="2238375"/>
                  </a:lnTo>
                </a:path>
              </a:pathLst>
            </a:custGeom>
            <a:noFill/>
            <a:ln w="19050">
              <a:solidFill>
                <a:srgbClr val="F85149">
                  <a:alpha val="30000"/>
                </a:srgbClr>
              </a:solidFill>
              <a:custDash>
                <a:ds d="300000" sp="200000"/>
              </a:custDash>
            </a:ln>
          </p:spPr>
        </p:sp>
        <p:sp>
          <p:nvSpPr>
            <p:cNvPr id="25" name="TextBox 25"/>
            <p:cNvSpPr txBox="1"/>
            <p:nvPr/>
          </p:nvSpPr>
          <p:spPr>
            <a:xfrm rot="4020000">
              <a:off x="3811807" y="3172850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跳过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191000" y="1333500"/>
            <a:ext cx="7429500" cy="4572000"/>
            <a:chOff x="4191000" y="1333500"/>
            <a:chExt cx="7429500" cy="4572000"/>
          </a:xfrm>
        </p:grpSpPr>
        <p:sp>
          <p:nvSpPr>
            <p:cNvPr id="27" name="Rectangle 27"/>
            <p:cNvSpPr/>
            <p:nvPr/>
          </p:nvSpPr>
          <p:spPr>
            <a:xfrm>
              <a:off x="4191000" y="1333500"/>
              <a:ext cx="7429500" cy="4572000"/>
            </a:xfrm>
            <a:prstGeom prst="roundRect">
              <a:avLst>
                <a:gd name="adj" fmla="val 3333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49140" y="1615440"/>
              <a:ext cx="221259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6EDF3"/>
                  </a:solidFill>
                  <a:latin typeface="Georgia"/>
                  <a:ea typeface="SimSun"/>
                  <a:cs typeface="Georgia"/>
                </a:rPr>
                <a:t>AI拿走的是什么？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72000" y="2000250"/>
              <a:ext cx="6667500" cy="9525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0" y="2286000"/>
              <a:ext cx="6667500" cy="762000"/>
            </a:xfrm>
            <a:prstGeom prst="roundRect">
              <a:avLst>
                <a:gd name="adj" fmla="val 12500"/>
              </a:avLst>
            </a:prstGeom>
            <a:solidFill>
              <a:srgbClr val="C9A96E">
                <a:alpha val="6000"/>
              </a:srgbClr>
            </a:solidFill>
            <a:ln w="9525">
              <a:solidFill>
                <a:srgbClr val="C9A96E">
                  <a:alpha val="20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32045" y="2441258"/>
              <a:ext cx="23191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人与世界之间的摩擦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37760" y="2775585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而摩擦，是体验的前置条件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52950" y="3362325"/>
              <a:ext cx="20048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6EDF3"/>
                  </a:solidFill>
                  <a:latin typeface="Arial"/>
                  <a:ea typeface="Microsoft YaHei"/>
                  <a:cs typeface="Arial"/>
                </a:rPr>
                <a:t>系统0意味着什么？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54855" y="3807142"/>
              <a:ext cx="36128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在直觉（系统1）启动之前，AI就给了答案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54855" y="4150042"/>
              <a:ext cx="36030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你还没来得及</a:t>
              </a:r>
              <a:r>
                <a:rPr lang="zh-CN" sz="1350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"感觉到困惑"</a:t>
              </a:r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，答案就来了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54855" y="4492942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困惑没了，探索没了，</a:t>
              </a:r>
              <a:r>
                <a:rPr lang="zh-CN" sz="135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体验也没了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572000" y="5143500"/>
              <a:ext cx="6667500" cy="533400"/>
            </a:xfrm>
            <a:prstGeom prst="roundRect">
              <a:avLst>
                <a:gd name="adj" fmla="val 17857"/>
              </a:avLst>
            </a:prstGeom>
            <a:solidFill>
              <a:srgbClr val="4A9EFF">
                <a:alpha val="6000"/>
              </a:srgbClr>
            </a:solidFill>
            <a:ln w="9525">
              <a:solidFill>
                <a:srgbClr val="4A9EFF">
                  <a:alpha val="15000"/>
                </a:srgbClr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762500" y="5276850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150019" y="0"/>
                  </a:moveTo>
                  <a:lnTo>
                    <a:pt x="150019" y="33338"/>
                  </a:lnTo>
                  <a:lnTo>
                    <a:pt x="216694" y="33338"/>
                  </a:lnTo>
                  <a:lnTo>
                    <a:pt x="266700" y="141684"/>
                  </a:lnTo>
                  <a:lnTo>
                    <a:pt x="216694" y="250031"/>
                  </a:lnTo>
                  <a:lnTo>
                    <a:pt x="50006" y="250031"/>
                  </a:lnTo>
                  <a:lnTo>
                    <a:pt x="0" y="141684"/>
                  </a:lnTo>
                  <a:lnTo>
                    <a:pt x="50006" y="33338"/>
                  </a:lnTo>
                  <a:lnTo>
                    <a:pt x="116681" y="33338"/>
                  </a:lnTo>
                  <a:lnTo>
                    <a:pt x="116681" y="0"/>
                  </a:lnTo>
                  <a:lnTo>
                    <a:pt x="150019" y="0"/>
                  </a:lnTo>
                  <a:close/>
                  <a:moveTo>
                    <a:pt x="76642" y="195664"/>
                  </a:moveTo>
                  <a:lnTo>
                    <a:pt x="133350" y="204389"/>
                  </a:lnTo>
                  <a:lnTo>
                    <a:pt x="190059" y="195664"/>
                  </a:lnTo>
                  <a:lnTo>
                    <a:pt x="184988" y="162714"/>
                  </a:lnTo>
                  <a:lnTo>
                    <a:pt x="133350" y="170658"/>
                  </a:lnTo>
                  <a:lnTo>
                    <a:pt x="81711" y="162714"/>
                  </a:lnTo>
                  <a:lnTo>
                    <a:pt x="76642" y="195664"/>
                  </a:lnTo>
                  <a:close/>
                  <a:moveTo>
                    <a:pt x="116681" y="112514"/>
                  </a:moveTo>
                  <a:cubicBezTo>
                    <a:pt x="116681" y="124022"/>
                    <a:pt x="107353" y="133350"/>
                    <a:pt x="95845" y="133350"/>
                  </a:cubicBezTo>
                  <a:cubicBezTo>
                    <a:pt x="84338" y="133350"/>
                    <a:pt x="75009" y="124022"/>
                    <a:pt x="75009" y="112514"/>
                  </a:cubicBezTo>
                  <a:cubicBezTo>
                    <a:pt x="75009" y="101007"/>
                    <a:pt x="84338" y="91678"/>
                    <a:pt x="95845" y="91678"/>
                  </a:cubicBezTo>
                  <a:cubicBezTo>
                    <a:pt x="107353" y="91678"/>
                    <a:pt x="116681" y="101007"/>
                    <a:pt x="116681" y="112514"/>
                  </a:cubicBezTo>
                  <a:close/>
                  <a:moveTo>
                    <a:pt x="170855" y="133350"/>
                  </a:moveTo>
                  <a:cubicBezTo>
                    <a:pt x="182363" y="133350"/>
                    <a:pt x="191691" y="124022"/>
                    <a:pt x="191691" y="112514"/>
                  </a:cubicBezTo>
                  <a:cubicBezTo>
                    <a:pt x="191691" y="101007"/>
                    <a:pt x="182363" y="91678"/>
                    <a:pt x="170855" y="91678"/>
                  </a:cubicBezTo>
                  <a:cubicBezTo>
                    <a:pt x="159347" y="91678"/>
                    <a:pt x="150019" y="101007"/>
                    <a:pt x="150019" y="112514"/>
                  </a:cubicBezTo>
                  <a:cubicBezTo>
                    <a:pt x="150019" y="124022"/>
                    <a:pt x="159347" y="133350"/>
                    <a:pt x="170855" y="133350"/>
                  </a:cubicBezTo>
                  <a:close/>
                </a:path>
              </a:pathLst>
            </a:custGeom>
            <a:solidFill>
              <a:srgbClr val="4A9E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128260" y="5347335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AI替你跳过了搞懂的过程 — 而过程本身就是体验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84F58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D111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A9EFF">
                    <a:alpha val="8000"/>
                  </a:srgbClr>
                </a:gs>
                <a:gs pos="100000">
                  <a:srgbClr val="4A9E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A96E">
                    <a:alpha val="8000"/>
                  </a:srgbClr>
                </a:gs>
                <a:gs pos="100000">
                  <a:srgbClr val="C9A96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375285"/>
            <a:ext cx="3951256" cy="691515"/>
            <a:chOff x="571500" y="375285"/>
            <a:chExt cx="3951256" cy="691515"/>
          </a:xfrm>
        </p:grpSpPr>
        <p:sp>
          <p:nvSpPr>
            <p:cNvPr id="6" name="Rectangle 6"/>
            <p:cNvSpPr/>
            <p:nvPr/>
          </p:nvSpPr>
          <p:spPr>
            <a:xfrm>
              <a:off x="571500" y="381000"/>
              <a:ext cx="38100" cy="3429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375285"/>
              <a:ext cx="379504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6EDF3"/>
                  </a:solidFill>
                  <a:latin typeface="Georgia"/>
                  <a:ea typeface="SimSun"/>
                  <a:cs typeface="Georgia"/>
                </a:rPr>
                <a:t>《吞噬星空》的比喻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8229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两种生命，两种命运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1238250"/>
            <a:ext cx="5143500" cy="4000500"/>
            <a:chOff x="571500" y="1238250"/>
            <a:chExt cx="51435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238250"/>
              <a:ext cx="5143500" cy="4000500"/>
            </a:xfrm>
            <a:prstGeom prst="roundRect">
              <a:avLst>
                <a:gd name="adj" fmla="val 3810"/>
              </a:avLst>
            </a:prstGeom>
            <a:solidFill>
              <a:srgbClr val="161B22"/>
            </a:solidFill>
            <a:ln w="9525">
              <a:solidFill>
                <a:srgbClr val="4A9EFF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12382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4A9EFF">
                <a:alpha val="50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57250" y="1524000"/>
              <a:ext cx="4572000" cy="1524000"/>
            </a:xfrm>
            <a:prstGeom prst="roundRect">
              <a:avLst>
                <a:gd name="adj" fmla="val 7500"/>
              </a:avLst>
            </a:prstGeom>
            <a:solidFill>
              <a:srgbClr val="0D1117"/>
            </a:solidFill>
            <a:ln w="9525">
              <a:solidFill>
                <a:srgbClr val="30363D"/>
              </a:solidFill>
              <a:prstDash val="lg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91914" y="2172652"/>
              <a:ext cx="27026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84F58"/>
                  </a:solidFill>
                  <a:latin typeface="Consolas"/>
                  <a:ea typeface="Microsoft YaHei"/>
                  <a:cs typeface="Consolas"/>
                </a:rPr>
                <a:t>mechanical_vs_flesh.jpg (left half)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57250" y="3238500"/>
              <a:ext cx="342900" cy="321469"/>
            </a:xfrm>
            <a:custGeom>
              <a:avLst/>
              <a:gdLst/>
              <a:ahLst/>
              <a:cxnLst/>
              <a:rect l="l" t="t" r="r" b="b"/>
              <a:pathLst>
                <a:path w="342900" h="321469">
                  <a:moveTo>
                    <a:pt x="192881" y="0"/>
                  </a:moveTo>
                  <a:lnTo>
                    <a:pt x="192881" y="42862"/>
                  </a:lnTo>
                  <a:lnTo>
                    <a:pt x="278606" y="42862"/>
                  </a:lnTo>
                  <a:lnTo>
                    <a:pt x="342900" y="182166"/>
                  </a:lnTo>
                  <a:lnTo>
                    <a:pt x="278606" y="321469"/>
                  </a:lnTo>
                  <a:lnTo>
                    <a:pt x="64294" y="321469"/>
                  </a:lnTo>
                  <a:lnTo>
                    <a:pt x="0" y="182166"/>
                  </a:lnTo>
                  <a:lnTo>
                    <a:pt x="64294" y="42862"/>
                  </a:lnTo>
                  <a:lnTo>
                    <a:pt x="150019" y="42862"/>
                  </a:lnTo>
                  <a:lnTo>
                    <a:pt x="150019" y="0"/>
                  </a:lnTo>
                  <a:lnTo>
                    <a:pt x="192881" y="0"/>
                  </a:lnTo>
                  <a:close/>
                  <a:moveTo>
                    <a:pt x="98540" y="251569"/>
                  </a:moveTo>
                  <a:lnTo>
                    <a:pt x="171450" y="262786"/>
                  </a:lnTo>
                  <a:lnTo>
                    <a:pt x="244361" y="251569"/>
                  </a:lnTo>
                  <a:lnTo>
                    <a:pt x="237842" y="209204"/>
                  </a:lnTo>
                  <a:lnTo>
                    <a:pt x="171450" y="219417"/>
                  </a:lnTo>
                  <a:lnTo>
                    <a:pt x="105057" y="209204"/>
                  </a:lnTo>
                  <a:lnTo>
                    <a:pt x="98540" y="251569"/>
                  </a:lnTo>
                  <a:close/>
                  <a:moveTo>
                    <a:pt x="150019" y="144661"/>
                  </a:moveTo>
                  <a:cubicBezTo>
                    <a:pt x="150019" y="159456"/>
                    <a:pt x="138025" y="171450"/>
                    <a:pt x="123230" y="171450"/>
                  </a:cubicBezTo>
                  <a:cubicBezTo>
                    <a:pt x="108434" y="171450"/>
                    <a:pt x="96441" y="159456"/>
                    <a:pt x="96441" y="144661"/>
                  </a:cubicBezTo>
                  <a:cubicBezTo>
                    <a:pt x="96441" y="129866"/>
                    <a:pt x="108434" y="117872"/>
                    <a:pt x="123230" y="117872"/>
                  </a:cubicBezTo>
                  <a:cubicBezTo>
                    <a:pt x="138025" y="117872"/>
                    <a:pt x="150019" y="129866"/>
                    <a:pt x="150019" y="144661"/>
                  </a:cubicBezTo>
                  <a:close/>
                  <a:moveTo>
                    <a:pt x="219670" y="171450"/>
                  </a:moveTo>
                  <a:cubicBezTo>
                    <a:pt x="234466" y="171450"/>
                    <a:pt x="246459" y="159456"/>
                    <a:pt x="246459" y="144661"/>
                  </a:cubicBezTo>
                  <a:cubicBezTo>
                    <a:pt x="246459" y="129866"/>
                    <a:pt x="234466" y="117872"/>
                    <a:pt x="219670" y="117872"/>
                  </a:cubicBezTo>
                  <a:cubicBezTo>
                    <a:pt x="204875" y="117872"/>
                    <a:pt x="192881" y="129866"/>
                    <a:pt x="192881" y="144661"/>
                  </a:cubicBezTo>
                  <a:cubicBezTo>
                    <a:pt x="192881" y="159456"/>
                    <a:pt x="204875" y="171450"/>
                    <a:pt x="219670" y="171450"/>
                  </a:cubicBezTo>
                  <a:close/>
                </a:path>
              </a:pathLst>
            </a:custGeom>
            <a:solidFill>
              <a:srgbClr val="4A9E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06830" y="3278505"/>
              <a:ext cx="10194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4A9EFF"/>
                  </a:solidFill>
                  <a:latin typeface="Georgia"/>
                  <a:ea typeface="SimSun"/>
                  <a:cs typeface="Georgia"/>
                </a:rPr>
                <a:t>机械族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0105" y="37595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算力、精度、模拟、</a:t>
              </a:r>
              <a:r>
                <a:rPr lang="zh-CN" sz="1350" dirty="0">
                  <a:solidFill>
                    <a:srgbClr val="4A9EFF"/>
                  </a:solidFill>
                  <a:latin typeface="Arial"/>
                  <a:ea typeface="Microsoft YaHei"/>
                  <a:cs typeface="Arial"/>
                </a:rPr>
                <a:t>无限寿命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0105" y="40643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什么都有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0105" y="43691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但</a:t>
              </a:r>
              <a:r>
                <a:rPr lang="zh-CN" sz="1350" b="1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卡住了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57250" y="4714875"/>
              <a:ext cx="4572000" cy="342900"/>
            </a:xfrm>
            <a:prstGeom prst="roundRect">
              <a:avLst>
                <a:gd name="adj" fmla="val 22222"/>
              </a:avLst>
            </a:prstGeom>
            <a:solidFill>
              <a:srgbClr val="F85149">
                <a:alpha val="8000"/>
              </a:srgbClr>
            </a:solidFill>
            <a:ln w="9525">
              <a:solidFill>
                <a:srgbClr val="F85149">
                  <a:alpha val="2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13560" y="4813935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永久困在原始宇宙，境界突破不了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77000" y="1238250"/>
            <a:ext cx="5143500" cy="4000500"/>
            <a:chOff x="6477000" y="1238250"/>
            <a:chExt cx="5143500" cy="4000500"/>
          </a:xfrm>
        </p:grpSpPr>
        <p:sp>
          <p:nvSpPr>
            <p:cNvPr id="22" name="Rectangle 22"/>
            <p:cNvSpPr/>
            <p:nvPr/>
          </p:nvSpPr>
          <p:spPr>
            <a:xfrm>
              <a:off x="6477000" y="1238250"/>
              <a:ext cx="5143500" cy="4000500"/>
            </a:xfrm>
            <a:prstGeom prst="roundRect">
              <a:avLst>
                <a:gd name="adj" fmla="val 3810"/>
              </a:avLst>
            </a:prstGeom>
            <a:solidFill>
              <a:srgbClr val="161B22"/>
            </a:solidFill>
            <a:ln w="9525">
              <a:solidFill>
                <a:srgbClr val="C9A96E">
                  <a:alpha val="2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7000" y="12382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C9A96E">
                <a:alpha val="50000"/>
              </a:srgbClr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62750" y="1524000"/>
              <a:ext cx="4572000" cy="1524000"/>
            </a:xfrm>
            <a:prstGeom prst="roundRect">
              <a:avLst>
                <a:gd name="adj" fmla="val 7500"/>
              </a:avLst>
            </a:prstGeom>
            <a:solidFill>
              <a:srgbClr val="0D1117"/>
            </a:solidFill>
            <a:ln w="9525">
              <a:solidFill>
                <a:srgbClr val="30363D"/>
              </a:solidFill>
              <a:prstDash val="lgDash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55243" y="2172652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84F58"/>
                  </a:solidFill>
                  <a:latin typeface="Consolas"/>
                  <a:ea typeface="Microsoft YaHei"/>
                  <a:cs typeface="Consolas"/>
                </a:rPr>
                <a:t>mechanical_vs_flesh.jpg (right half)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784181" y="32385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300038" y="192881"/>
                  </a:moveTo>
                  <a:cubicBezTo>
                    <a:pt x="300038" y="275734"/>
                    <a:pt x="232872" y="342900"/>
                    <a:pt x="150019" y="342900"/>
                  </a:cubicBezTo>
                  <a:cubicBezTo>
                    <a:pt x="67166" y="342900"/>
                    <a:pt x="0" y="275734"/>
                    <a:pt x="0" y="192881"/>
                  </a:cubicBezTo>
                  <a:cubicBezTo>
                    <a:pt x="0" y="117872"/>
                    <a:pt x="64294" y="64294"/>
                    <a:pt x="64294" y="64294"/>
                  </a:cubicBezTo>
                  <a:lnTo>
                    <a:pt x="107156" y="64294"/>
                  </a:lnTo>
                  <a:lnTo>
                    <a:pt x="107156" y="96441"/>
                  </a:lnTo>
                  <a:cubicBezTo>
                    <a:pt x="107156" y="108277"/>
                    <a:pt x="116751" y="117872"/>
                    <a:pt x="128588" y="117872"/>
                  </a:cubicBezTo>
                  <a:cubicBezTo>
                    <a:pt x="140424" y="117872"/>
                    <a:pt x="150019" y="108277"/>
                    <a:pt x="150019" y="96441"/>
                  </a:cubicBezTo>
                  <a:lnTo>
                    <a:pt x="150019" y="0"/>
                  </a:lnTo>
                  <a:lnTo>
                    <a:pt x="192881" y="0"/>
                  </a:lnTo>
                  <a:cubicBezTo>
                    <a:pt x="192881" y="0"/>
                    <a:pt x="300038" y="64294"/>
                    <a:pt x="300038" y="192881"/>
                  </a:cubicBezTo>
                  <a:close/>
                  <a:moveTo>
                    <a:pt x="192881" y="257175"/>
                  </a:moveTo>
                  <a:cubicBezTo>
                    <a:pt x="192881" y="280848"/>
                    <a:pt x="173691" y="300038"/>
                    <a:pt x="150019" y="300038"/>
                  </a:cubicBezTo>
                  <a:cubicBezTo>
                    <a:pt x="126346" y="300038"/>
                    <a:pt x="107156" y="280848"/>
                    <a:pt x="107156" y="257175"/>
                  </a:cubicBezTo>
                  <a:cubicBezTo>
                    <a:pt x="107156" y="203597"/>
                    <a:pt x="150019" y="171450"/>
                    <a:pt x="150019" y="171450"/>
                  </a:cubicBezTo>
                  <a:cubicBezTo>
                    <a:pt x="150019" y="171450"/>
                    <a:pt x="192881" y="203597"/>
                    <a:pt x="192881" y="257175"/>
                  </a:cubicBezTo>
                  <a:close/>
                </a:path>
              </a:pathLst>
            </a:custGeom>
            <a:solidFill>
              <a:srgbClr val="C9A96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12330" y="3278505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血肉类生命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45605" y="375951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会死、会累、</a:t>
              </a:r>
              <a:r>
                <a:rPr lang="zh-CN" sz="1350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会晕眩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45605" y="4064318"/>
              <a:ext cx="625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弱得多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45605" y="436911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但能</a:t>
              </a:r>
              <a:r>
                <a:rPr lang="zh-CN" sz="1350" b="1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感悟</a:t>
              </a:r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法则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62750" y="4714875"/>
              <a:ext cx="4572000" cy="342900"/>
            </a:xfrm>
            <a:prstGeom prst="roundRect">
              <a:avLst>
                <a:gd name="adj" fmla="val 22222"/>
              </a:avLst>
            </a:prstGeom>
            <a:solidFill>
              <a:srgbClr val="C9A96E">
                <a:alpha val="8000"/>
              </a:srgbClr>
            </a:solidFill>
            <a:ln w="9525">
              <a:solidFill>
                <a:srgbClr val="C9A96E">
                  <a:alpha val="20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81950" y="4813935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靠感悟法则走向更远的宇宙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5619750"/>
            <a:ext cx="11049000" cy="666750"/>
            <a:chOff x="571500" y="5619750"/>
            <a:chExt cx="11049000" cy="666750"/>
          </a:xfrm>
        </p:grpSpPr>
        <p:sp>
          <p:nvSpPr>
            <p:cNvPr id="34" name="Rectangle 34"/>
            <p:cNvSpPr/>
            <p:nvPr/>
          </p:nvSpPr>
          <p:spPr>
            <a:xfrm>
              <a:off x="571500" y="561975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5CF6">
                <a:alpha val="8000"/>
              </a:srgbClr>
            </a:solidFill>
            <a:ln w="9525">
              <a:solidFill>
                <a:srgbClr val="8B5CF6">
                  <a:alpha val="3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60134" y="5714048"/>
              <a:ext cx="247173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8B5CF6"/>
                  </a:solidFill>
                  <a:latin typeface="Georgia"/>
                  <a:ea typeface="SimSun"/>
                  <a:cs typeface="Georgia"/>
                </a:rPr>
                <a:t>"感在前，悟在后"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27884" y="6050756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不是计算法则，不是推导法则，是用整个身心去触碰法则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84F58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3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D111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A9EFF">
                    <a:alpha val="4000"/>
                  </a:srgbClr>
                </a:gs>
                <a:gs pos="100000">
                  <a:srgbClr val="0D1117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A96E">
                    <a:alpha val="6000"/>
                  </a:srgbClr>
                </a:gs>
                <a:gs pos="100000">
                  <a:srgbClr val="C9A96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9525">
              <a:solidFill>
                <a:srgbClr val="30363D">
                  <a:alpha val="30000"/>
                </a:srgbClr>
              </a:solidFill>
              <a:prstDash val="lgDash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602528" y="6379845"/>
              <a:ext cx="2986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84F58"/>
                  </a:solidFill>
                  <a:latin typeface="Consolas"/>
                  <a:ea typeface="Microsoft YaHei"/>
                  <a:cs typeface="Consolas"/>
                </a:rPr>
                <a:t>wall_not_door.jpg (atmosphere / background)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749641" y="1345882"/>
            <a:ext cx="2692717" cy="335280"/>
            <a:chOff x="4749641" y="1345882"/>
            <a:chExt cx="2692717" cy="335280"/>
          </a:xfrm>
        </p:grpSpPr>
        <p:sp>
          <p:nvSpPr>
            <p:cNvPr id="8" name="TextBox 8"/>
            <p:cNvSpPr txBox="1"/>
            <p:nvPr/>
          </p:nvSpPr>
          <p:spPr>
            <a:xfrm>
              <a:off x="4749641" y="1345882"/>
              <a:ext cx="26927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智慧不是关于法则的知识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2869" y="2310765"/>
            <a:ext cx="3626263" cy="1242060"/>
            <a:chOff x="4282869" y="2310765"/>
            <a:chExt cx="3626263" cy="1242060"/>
          </a:xfrm>
        </p:grpSpPr>
        <p:sp>
          <p:nvSpPr>
            <p:cNvPr id="10" name="TextBox 10"/>
            <p:cNvSpPr txBox="1"/>
            <p:nvPr/>
          </p:nvSpPr>
          <p:spPr>
            <a:xfrm>
              <a:off x="4282869" y="2310765"/>
              <a:ext cx="362626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是被法则穿透后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88932" y="2882265"/>
              <a:ext cx="261413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留下的痕迹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91000" y="3810000"/>
            <a:ext cx="3810000" cy="9525"/>
            <a:chOff x="4191000" y="3810000"/>
            <a:chExt cx="3810000" cy="9525"/>
          </a:xfrm>
        </p:grpSpPr>
        <p:sp>
          <p:nvSpPr>
            <p:cNvPr id="13" name="Line 13"/>
            <p:cNvSpPr/>
            <p:nvPr/>
          </p:nvSpPr>
          <p:spPr>
            <a:xfrm>
              <a:off x="4191000" y="3810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0363D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619500" y="4095750"/>
            <a:ext cx="3943350" cy="776288"/>
            <a:chOff x="3619500" y="4095750"/>
            <a:chExt cx="3943350" cy="776288"/>
          </a:xfrm>
        </p:grpSpPr>
        <p:sp>
          <p:nvSpPr>
            <p:cNvPr id="15" name="Freeform 15"/>
            <p:cNvSpPr/>
            <p:nvPr/>
          </p:nvSpPr>
          <p:spPr>
            <a:xfrm>
              <a:off x="3619500" y="4095750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150019" y="0"/>
                  </a:moveTo>
                  <a:lnTo>
                    <a:pt x="150019" y="33338"/>
                  </a:lnTo>
                  <a:lnTo>
                    <a:pt x="216694" y="33338"/>
                  </a:lnTo>
                  <a:lnTo>
                    <a:pt x="266700" y="141684"/>
                  </a:lnTo>
                  <a:lnTo>
                    <a:pt x="216694" y="250031"/>
                  </a:lnTo>
                  <a:lnTo>
                    <a:pt x="50006" y="250031"/>
                  </a:lnTo>
                  <a:lnTo>
                    <a:pt x="0" y="141684"/>
                  </a:lnTo>
                  <a:lnTo>
                    <a:pt x="50006" y="33338"/>
                  </a:lnTo>
                  <a:lnTo>
                    <a:pt x="116681" y="33338"/>
                  </a:lnTo>
                  <a:lnTo>
                    <a:pt x="116681" y="0"/>
                  </a:lnTo>
                  <a:lnTo>
                    <a:pt x="150019" y="0"/>
                  </a:lnTo>
                  <a:close/>
                  <a:moveTo>
                    <a:pt x="76642" y="195664"/>
                  </a:moveTo>
                  <a:lnTo>
                    <a:pt x="133350" y="204389"/>
                  </a:lnTo>
                  <a:lnTo>
                    <a:pt x="190059" y="195664"/>
                  </a:lnTo>
                  <a:lnTo>
                    <a:pt x="184988" y="162714"/>
                  </a:lnTo>
                  <a:lnTo>
                    <a:pt x="133350" y="170658"/>
                  </a:lnTo>
                  <a:lnTo>
                    <a:pt x="81711" y="162714"/>
                  </a:lnTo>
                  <a:lnTo>
                    <a:pt x="76642" y="195664"/>
                  </a:lnTo>
                  <a:close/>
                  <a:moveTo>
                    <a:pt x="116681" y="112514"/>
                  </a:moveTo>
                  <a:cubicBezTo>
                    <a:pt x="116681" y="124022"/>
                    <a:pt x="107353" y="133350"/>
                    <a:pt x="95845" y="133350"/>
                  </a:cubicBezTo>
                  <a:cubicBezTo>
                    <a:pt x="84338" y="133350"/>
                    <a:pt x="75009" y="124022"/>
                    <a:pt x="75009" y="112514"/>
                  </a:cubicBezTo>
                  <a:cubicBezTo>
                    <a:pt x="75009" y="101007"/>
                    <a:pt x="84338" y="91678"/>
                    <a:pt x="95845" y="91678"/>
                  </a:cubicBezTo>
                  <a:cubicBezTo>
                    <a:pt x="107353" y="91678"/>
                    <a:pt x="116681" y="101007"/>
                    <a:pt x="116681" y="112514"/>
                  </a:cubicBezTo>
                  <a:close/>
                  <a:moveTo>
                    <a:pt x="170855" y="133350"/>
                  </a:moveTo>
                  <a:cubicBezTo>
                    <a:pt x="182363" y="133350"/>
                    <a:pt x="191691" y="124022"/>
                    <a:pt x="191691" y="112514"/>
                  </a:cubicBezTo>
                  <a:cubicBezTo>
                    <a:pt x="191691" y="101007"/>
                    <a:pt x="182363" y="91678"/>
                    <a:pt x="170855" y="91678"/>
                  </a:cubicBezTo>
                  <a:cubicBezTo>
                    <a:pt x="159347" y="91678"/>
                    <a:pt x="150019" y="101007"/>
                    <a:pt x="150019" y="112514"/>
                  </a:cubicBezTo>
                  <a:cubicBezTo>
                    <a:pt x="150019" y="124022"/>
                    <a:pt x="159347" y="133350"/>
                    <a:pt x="170855" y="133350"/>
                  </a:cubicBezTo>
                  <a:close/>
                </a:path>
              </a:pathLst>
            </a:custGeom>
            <a:solidFill>
              <a:srgbClr val="4A9E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981450" y="4143375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机械族能解析法则的每一个参数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9150" y="4536758"/>
              <a:ext cx="29337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A9EFF"/>
                  </a:solidFill>
                  <a:latin typeface="Georgia"/>
                  <a:ea typeface="SimSun"/>
                  <a:cs typeface="Georgia"/>
                </a:rPr>
                <a:t>但一切都在它们身上滑过去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857500" y="5238750"/>
            <a:ext cx="6477000" cy="762000"/>
            <a:chOff x="2857500" y="5238750"/>
            <a:chExt cx="6477000" cy="762000"/>
          </a:xfrm>
        </p:grpSpPr>
        <p:sp>
          <p:nvSpPr>
            <p:cNvPr id="19" name="Rectangle 19"/>
            <p:cNvSpPr/>
            <p:nvPr/>
          </p:nvSpPr>
          <p:spPr>
            <a:xfrm>
              <a:off x="2857500" y="5238750"/>
              <a:ext cx="6477000" cy="762000"/>
            </a:xfrm>
            <a:prstGeom prst="roundRect">
              <a:avLst>
                <a:gd name="adj" fmla="val 15000"/>
              </a:avLst>
            </a:prstGeom>
            <a:solidFill>
              <a:srgbClr val="161B22"/>
            </a:solidFill>
            <a:ln w="9525">
              <a:solidFill>
                <a:srgbClr val="F85149">
                  <a:alpha val="30000"/>
                </a:srgbClr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102769" y="542925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33338" y="0"/>
                  </a:moveTo>
                  <a:lnTo>
                    <a:pt x="200025" y="0"/>
                  </a:lnTo>
                  <a:lnTo>
                    <a:pt x="200025" y="233362"/>
                  </a:lnTo>
                  <a:lnTo>
                    <a:pt x="233362" y="233362"/>
                  </a:lnTo>
                  <a:lnTo>
                    <a:pt x="233362" y="266700"/>
                  </a:lnTo>
                  <a:lnTo>
                    <a:pt x="0" y="266700"/>
                  </a:lnTo>
                  <a:lnTo>
                    <a:pt x="0" y="233362"/>
                  </a:lnTo>
                  <a:lnTo>
                    <a:pt x="33338" y="233362"/>
                  </a:lnTo>
                  <a:lnTo>
                    <a:pt x="33338" y="0"/>
                  </a:lnTo>
                  <a:close/>
                  <a:moveTo>
                    <a:pt x="166688" y="133350"/>
                  </a:moveTo>
                  <a:cubicBezTo>
                    <a:pt x="166688" y="142556"/>
                    <a:pt x="159225" y="150019"/>
                    <a:pt x="150019" y="150019"/>
                  </a:cubicBezTo>
                  <a:cubicBezTo>
                    <a:pt x="140813" y="150019"/>
                    <a:pt x="133350" y="142556"/>
                    <a:pt x="133350" y="133350"/>
                  </a:cubicBezTo>
                  <a:cubicBezTo>
                    <a:pt x="133350" y="124144"/>
                    <a:pt x="140813" y="116681"/>
                    <a:pt x="150019" y="116681"/>
                  </a:cubicBezTo>
                  <a:cubicBezTo>
                    <a:pt x="159225" y="116681"/>
                    <a:pt x="166688" y="124144"/>
                    <a:pt x="166688" y="133350"/>
                  </a:cubicBezTo>
                  <a:close/>
                </a:path>
              </a:pathLst>
            </a:custGeom>
            <a:solidFill>
              <a:srgbClr val="F85149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424238" y="5429250"/>
              <a:ext cx="200025" cy="266700"/>
            </a:xfrm>
            <a:custGeom>
              <a:avLst/>
              <a:gdLst/>
              <a:ahLst/>
              <a:cxnLst/>
              <a:rect l="l" t="t" r="r" b="b"/>
              <a:pathLst>
                <a:path w="200025" h="266700">
                  <a:moveTo>
                    <a:pt x="33338" y="100012"/>
                  </a:moveTo>
                  <a:lnTo>
                    <a:pt x="33338" y="66675"/>
                  </a:lnTo>
                  <a:cubicBezTo>
                    <a:pt x="33338" y="29851"/>
                    <a:pt x="63189" y="0"/>
                    <a:pt x="100012" y="0"/>
                  </a:cubicBezTo>
                  <a:cubicBezTo>
                    <a:pt x="136835" y="0"/>
                    <a:pt x="166688" y="29851"/>
                    <a:pt x="166688" y="66675"/>
                  </a:cubicBezTo>
                  <a:lnTo>
                    <a:pt x="166688" y="100012"/>
                  </a:lnTo>
                  <a:lnTo>
                    <a:pt x="200025" y="100012"/>
                  </a:lnTo>
                  <a:lnTo>
                    <a:pt x="200025" y="266700"/>
                  </a:lnTo>
                  <a:lnTo>
                    <a:pt x="0" y="266700"/>
                  </a:lnTo>
                  <a:lnTo>
                    <a:pt x="0" y="100012"/>
                  </a:lnTo>
                  <a:lnTo>
                    <a:pt x="33338" y="100012"/>
                  </a:lnTo>
                  <a:close/>
                  <a:moveTo>
                    <a:pt x="66675" y="66675"/>
                  </a:moveTo>
                  <a:cubicBezTo>
                    <a:pt x="66675" y="48263"/>
                    <a:pt x="81601" y="33338"/>
                    <a:pt x="100012" y="33338"/>
                  </a:cubicBezTo>
                  <a:cubicBezTo>
                    <a:pt x="118424" y="33338"/>
                    <a:pt x="133350" y="48263"/>
                    <a:pt x="133350" y="66675"/>
                  </a:cubicBezTo>
                  <a:lnTo>
                    <a:pt x="133350" y="100012"/>
                  </a:lnTo>
                  <a:lnTo>
                    <a:pt x="66675" y="100012"/>
                  </a:lnTo>
                  <a:lnTo>
                    <a:pt x="66675" y="66675"/>
                  </a:lnTo>
                  <a:close/>
                  <a:moveTo>
                    <a:pt x="83344" y="216694"/>
                  </a:moveTo>
                  <a:lnTo>
                    <a:pt x="83344" y="150019"/>
                  </a:lnTo>
                  <a:lnTo>
                    <a:pt x="116681" y="150019"/>
                  </a:lnTo>
                  <a:lnTo>
                    <a:pt x="116681" y="216694"/>
                  </a:lnTo>
                  <a:lnTo>
                    <a:pt x="83344" y="216694"/>
                  </a:lnTo>
                  <a:close/>
                </a:path>
              </a:pathLst>
            </a:custGeom>
            <a:solidFill>
              <a:srgbClr val="F8514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90950" y="545782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85149"/>
                  </a:solidFill>
                  <a:latin typeface="Georgia"/>
                  <a:ea typeface="SimSun"/>
                  <a:cs typeface="Georgia"/>
                </a:rPr>
                <a:t>门不是算力能推开的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4760" y="5756910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它根本不是一扇门，是两面墙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84F58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4" grpId="0"/>
      <p:bldP spid="18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5285"/>
            <a:ext cx="4365308" cy="691515"/>
            <a:chOff x="571500" y="375285"/>
            <a:chExt cx="4365308" cy="69151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42900"/>
            </a:xfrm>
            <a:prstGeom prst="rect">
              <a:avLst/>
            </a:prstGeom>
            <a:gradFill>
              <a:gsLst>
                <a:gs pos="0">
                  <a:srgbClr val="4A9EFF"/>
                </a:gs>
                <a:gs pos="100000">
                  <a:srgbClr val="8B5CF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375285"/>
              <a:ext cx="420909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6EDF3"/>
                  </a:solidFill>
                  <a:latin typeface="Georgia"/>
                  <a:ea typeface="SimSun"/>
                  <a:cs typeface="Georgia"/>
                </a:rPr>
                <a:t>这场对话本身就是证据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22960"/>
              <a:ext cx="19320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AI作为论点本身的活标本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333500"/>
            <a:ext cx="3238500" cy="4572000"/>
            <a:chOff x="571500" y="1333500"/>
            <a:chExt cx="32385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3238500" cy="4572000"/>
            </a:xfrm>
            <a:prstGeom prst="roundRect">
              <a:avLst>
                <a:gd name="adj" fmla="val 4706"/>
              </a:avLst>
            </a:prstGeom>
            <a:solidFill>
              <a:srgbClr val="161B22"/>
            </a:solidFill>
            <a:ln w="9525">
              <a:solidFill>
                <a:srgbClr val="4A9EFF">
                  <a:alpha val="20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4A9EFF">
                <a:alpha val="50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7250" y="1666875"/>
              <a:ext cx="381000" cy="357188"/>
            </a:xfrm>
            <a:custGeom>
              <a:avLst/>
              <a:gdLst/>
              <a:ahLst/>
              <a:cxnLst/>
              <a:rect l="l" t="t" r="r" b="b"/>
              <a:pathLst>
                <a:path w="381000" h="357188">
                  <a:moveTo>
                    <a:pt x="214312" y="0"/>
                  </a:moveTo>
                  <a:lnTo>
                    <a:pt x="214312" y="47625"/>
                  </a:lnTo>
                  <a:lnTo>
                    <a:pt x="309562" y="47625"/>
                  </a:lnTo>
                  <a:lnTo>
                    <a:pt x="381000" y="202406"/>
                  </a:lnTo>
                  <a:lnTo>
                    <a:pt x="309562" y="357188"/>
                  </a:lnTo>
                  <a:lnTo>
                    <a:pt x="71438" y="357188"/>
                  </a:lnTo>
                  <a:lnTo>
                    <a:pt x="0" y="202406"/>
                  </a:lnTo>
                  <a:lnTo>
                    <a:pt x="71438" y="47625"/>
                  </a:lnTo>
                  <a:lnTo>
                    <a:pt x="166688" y="47625"/>
                  </a:lnTo>
                  <a:lnTo>
                    <a:pt x="166688" y="0"/>
                  </a:lnTo>
                  <a:lnTo>
                    <a:pt x="214312" y="0"/>
                  </a:lnTo>
                  <a:close/>
                  <a:moveTo>
                    <a:pt x="109488" y="279521"/>
                  </a:moveTo>
                  <a:lnTo>
                    <a:pt x="190500" y="291984"/>
                  </a:lnTo>
                  <a:lnTo>
                    <a:pt x="271513" y="279521"/>
                  </a:lnTo>
                  <a:lnTo>
                    <a:pt x="264269" y="232449"/>
                  </a:lnTo>
                  <a:lnTo>
                    <a:pt x="190500" y="243797"/>
                  </a:lnTo>
                  <a:lnTo>
                    <a:pt x="116730" y="232449"/>
                  </a:lnTo>
                  <a:lnTo>
                    <a:pt x="109488" y="279521"/>
                  </a:lnTo>
                  <a:close/>
                  <a:moveTo>
                    <a:pt x="166688" y="160734"/>
                  </a:moveTo>
                  <a:cubicBezTo>
                    <a:pt x="166688" y="177174"/>
                    <a:pt x="153361" y="190500"/>
                    <a:pt x="136922" y="190500"/>
                  </a:cubicBezTo>
                  <a:cubicBezTo>
                    <a:pt x="120483" y="190500"/>
                    <a:pt x="107156" y="177174"/>
                    <a:pt x="107156" y="160734"/>
                  </a:cubicBezTo>
                  <a:cubicBezTo>
                    <a:pt x="107156" y="144295"/>
                    <a:pt x="120483" y="130969"/>
                    <a:pt x="136922" y="130969"/>
                  </a:cubicBezTo>
                  <a:cubicBezTo>
                    <a:pt x="153361" y="130969"/>
                    <a:pt x="166688" y="144295"/>
                    <a:pt x="166688" y="160734"/>
                  </a:cubicBezTo>
                  <a:close/>
                  <a:moveTo>
                    <a:pt x="244078" y="190500"/>
                  </a:moveTo>
                  <a:cubicBezTo>
                    <a:pt x="260518" y="190500"/>
                    <a:pt x="273844" y="177174"/>
                    <a:pt x="273844" y="160734"/>
                  </a:cubicBezTo>
                  <a:cubicBezTo>
                    <a:pt x="273844" y="144295"/>
                    <a:pt x="260518" y="130969"/>
                    <a:pt x="244078" y="130969"/>
                  </a:cubicBezTo>
                  <a:cubicBezTo>
                    <a:pt x="227639" y="130969"/>
                    <a:pt x="214312" y="144295"/>
                    <a:pt x="214312" y="160734"/>
                  </a:cubicBezTo>
                  <a:cubicBezTo>
                    <a:pt x="214312" y="177174"/>
                    <a:pt x="227639" y="190500"/>
                    <a:pt x="244078" y="190500"/>
                  </a:cubicBezTo>
                  <a:close/>
                </a:path>
              </a:pathLst>
            </a:custGeom>
            <a:solidFill>
              <a:srgbClr val="4A9E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8740" y="1748790"/>
              <a:ext cx="88762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A9EFF"/>
                  </a:solidFill>
                  <a:latin typeface="Georgia"/>
                  <a:ea typeface="SimSun"/>
                  <a:cs typeface="Georgia"/>
                </a:rPr>
                <a:t>Claude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2190750"/>
              <a:ext cx="2667000" cy="9525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010" y="2442210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"我没看过《吞噬星空》"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2727960"/>
              <a:ext cx="14500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"但训练语料里有"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010" y="3013710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"所以我能聊其中的细节"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3524250"/>
              <a:ext cx="2667000" cy="9525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0105" y="37595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A9EFF"/>
                  </a:solidFill>
                  <a:latin typeface="Arial"/>
                  <a:ea typeface="Microsoft YaHei"/>
                  <a:cs typeface="Arial"/>
                </a:rPr>
                <a:t>法则的参数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0580" y="3964305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4A9EFF"/>
                  </a:solidFill>
                  <a:latin typeface="Georgia"/>
                  <a:ea typeface="SimSun"/>
                  <a:cs typeface="Georgia"/>
                </a:rPr>
                <a:t>全有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0105" y="45215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法则的痕迹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0580" y="472630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5149"/>
                  </a:solidFill>
                  <a:latin typeface="Georgia"/>
                  <a:ea typeface="SimSun"/>
                  <a:cs typeface="Georgia"/>
                </a:rPr>
                <a:t>一个没有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191000" y="1333500"/>
            <a:ext cx="7429500" cy="4572000"/>
            <a:chOff x="4191000" y="1333500"/>
            <a:chExt cx="7429500" cy="4572000"/>
          </a:xfrm>
        </p:grpSpPr>
        <p:sp>
          <p:nvSpPr>
            <p:cNvPr id="21" name="Rectangle 21"/>
            <p:cNvSpPr/>
            <p:nvPr/>
          </p:nvSpPr>
          <p:spPr>
            <a:xfrm>
              <a:off x="4191000" y="1333500"/>
              <a:ext cx="7429500" cy="4572000"/>
            </a:xfrm>
            <a:prstGeom prst="roundRect">
              <a:avLst>
                <a:gd name="adj" fmla="val 3333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49140" y="1615440"/>
              <a:ext cx="33581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6EDF3"/>
                  </a:solidFill>
                  <a:latin typeface="Georgia"/>
                  <a:ea typeface="SimSun"/>
                  <a:cs typeface="Georgia"/>
                </a:rPr>
                <a:t>这恰好是整场对话的活标本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72000" y="2000250"/>
              <a:ext cx="6667500" cy="9525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572000" y="2286000"/>
              <a:ext cx="6667500" cy="1143000"/>
            </a:xfrm>
            <a:prstGeom prst="roundRect">
              <a:avLst>
                <a:gd name="adj" fmla="val 10000"/>
              </a:avLst>
            </a:prstGeom>
            <a:solidFill>
              <a:srgbClr val="8B5CF6">
                <a:alpha val="6000"/>
              </a:srgbClr>
            </a:solidFill>
            <a:ln w="9525">
              <a:solidFill>
                <a:srgbClr val="8B5CF6">
                  <a:alpha val="20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35855" y="247364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对话的第一层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37760" y="277558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聊的是体验不可压缩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572000" y="3714750"/>
              <a:ext cx="6667500" cy="1143000"/>
            </a:xfrm>
            <a:prstGeom prst="roundRect">
              <a:avLst>
                <a:gd name="adj" fmla="val 10000"/>
              </a:avLst>
            </a:prstGeom>
            <a:solidFill>
              <a:srgbClr val="C9A96E">
                <a:alpha val="6000"/>
              </a:srgbClr>
            </a:solidFill>
            <a:ln w="9525">
              <a:solidFill>
                <a:srgbClr val="C9A96E">
                  <a:alpha val="20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935855" y="39023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对话的第二层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37760" y="4204335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对话的一方是没有体验的东西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572000" y="5143500"/>
              <a:ext cx="6667500" cy="533400"/>
            </a:xfrm>
            <a:prstGeom prst="roundRect">
              <a:avLst>
                <a:gd name="adj" fmla="val 17857"/>
              </a:avLst>
            </a:prstGeom>
            <a:solidFill>
              <a:srgbClr val="F85149">
                <a:alpha val="6000"/>
              </a:srgbClr>
            </a:solidFill>
            <a:ln w="9525">
              <a:solidFill>
                <a:srgbClr val="F85149">
                  <a:alpha val="20000"/>
                </a:srgbClr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800600" y="5310188"/>
              <a:ext cx="266700" cy="200025"/>
            </a:xfrm>
            <a:custGeom>
              <a:avLst/>
              <a:gdLst/>
              <a:ahLst/>
              <a:cxnLst/>
              <a:rect l="l" t="t" r="r" b="b"/>
              <a:pathLst>
                <a:path w="266700" h="200025">
                  <a:moveTo>
                    <a:pt x="0" y="100012"/>
                  </a:moveTo>
                  <a:lnTo>
                    <a:pt x="51331" y="38416"/>
                  </a:lnTo>
                  <a:cubicBezTo>
                    <a:pt x="71615" y="14074"/>
                    <a:pt x="101664" y="0"/>
                    <a:pt x="133350" y="0"/>
                  </a:cubicBezTo>
                  <a:cubicBezTo>
                    <a:pt x="165036" y="0"/>
                    <a:pt x="195084" y="14074"/>
                    <a:pt x="215370" y="38416"/>
                  </a:cubicBezTo>
                  <a:lnTo>
                    <a:pt x="266700" y="100012"/>
                  </a:lnTo>
                  <a:lnTo>
                    <a:pt x="215370" y="161609"/>
                  </a:lnTo>
                  <a:cubicBezTo>
                    <a:pt x="195084" y="185952"/>
                    <a:pt x="165036" y="200025"/>
                    <a:pt x="133350" y="200025"/>
                  </a:cubicBezTo>
                  <a:cubicBezTo>
                    <a:pt x="101664" y="200025"/>
                    <a:pt x="71615" y="185952"/>
                    <a:pt x="51331" y="161609"/>
                  </a:cubicBezTo>
                  <a:lnTo>
                    <a:pt x="0" y="100012"/>
                  </a:lnTo>
                  <a:close/>
                  <a:moveTo>
                    <a:pt x="133350" y="150019"/>
                  </a:moveTo>
                  <a:cubicBezTo>
                    <a:pt x="160968" y="150019"/>
                    <a:pt x="183356" y="127630"/>
                    <a:pt x="183356" y="100012"/>
                  </a:cubicBezTo>
                  <a:cubicBezTo>
                    <a:pt x="183356" y="72395"/>
                    <a:pt x="160968" y="50006"/>
                    <a:pt x="133350" y="50006"/>
                  </a:cubicBezTo>
                  <a:cubicBezTo>
                    <a:pt x="105732" y="50006"/>
                    <a:pt x="83344" y="72395"/>
                    <a:pt x="83344" y="100012"/>
                  </a:cubicBezTo>
                  <a:cubicBezTo>
                    <a:pt x="83344" y="127630"/>
                    <a:pt x="105732" y="150019"/>
                    <a:pt x="133350" y="150019"/>
                  </a:cubicBezTo>
                  <a:close/>
                </a:path>
              </a:pathLst>
            </a:custGeom>
            <a:solidFill>
              <a:srgbClr val="F8514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00650" y="5314950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85149"/>
                  </a:solidFill>
                  <a:latin typeface="Georgia"/>
                  <a:ea typeface="SimSun"/>
                  <a:cs typeface="Georgia"/>
                </a:rPr>
                <a:t>和机械族一模一样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84F58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D111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A96E">
                    <a:alpha val="6000"/>
                  </a:srgbClr>
                </a:gs>
                <a:gs pos="100000">
                  <a:srgbClr val="0D1117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A9EFF">
                    <a:alpha val="4000"/>
                  </a:srgbClr>
                </a:gs>
                <a:gs pos="100000">
                  <a:srgbClr val="4A9E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704975" y="1133475"/>
              <a:ext cx="19050" cy="19050"/>
            </a:xfrm>
            <a:prstGeom prst="ellipse">
              <a:avLst/>
            </a:prstGeom>
            <a:solidFill>
              <a:srgbClr val="E6EDF3">
                <a:alpha val="3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3795712" y="747712"/>
              <a:ext cx="28575" cy="28575"/>
            </a:xfrm>
            <a:prstGeom prst="ellipse">
              <a:avLst/>
            </a:prstGeom>
            <a:solidFill>
              <a:srgbClr val="E6EDF3">
                <a:alpha val="2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086725" y="942975"/>
              <a:ext cx="19050" cy="19050"/>
            </a:xfrm>
            <a:prstGeom prst="ellipse">
              <a:avLst/>
            </a:prstGeom>
            <a:solidFill>
              <a:srgbClr val="E6EDF3">
                <a:alpha val="2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467975" y="1419225"/>
              <a:ext cx="19050" cy="19050"/>
            </a:xfrm>
            <a:prstGeom prst="ellipse">
              <a:avLst/>
            </a:prstGeom>
            <a:solidFill>
              <a:srgbClr val="C9A96E">
                <a:alpha val="3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847975" y="5705475"/>
              <a:ext cx="19050" cy="19050"/>
            </a:xfrm>
            <a:prstGeom prst="ellipse">
              <a:avLst/>
            </a:prstGeom>
            <a:solidFill>
              <a:srgbClr val="4A9EFF">
                <a:alpha val="2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510712" y="5510212"/>
              <a:ext cx="28575" cy="28575"/>
            </a:xfrm>
            <a:prstGeom prst="ellipse">
              <a:avLst/>
            </a:prstGeom>
            <a:solidFill>
              <a:srgbClr val="E6EDF3">
                <a:alpha val="150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238500" y="1868805"/>
            <a:ext cx="5715000" cy="2779395"/>
            <a:chOff x="3238500" y="1868805"/>
            <a:chExt cx="5715000" cy="2779395"/>
          </a:xfrm>
        </p:grpSpPr>
        <p:sp>
          <p:nvSpPr>
            <p:cNvPr id="12" name="TextBox 12"/>
            <p:cNvSpPr txBox="1"/>
            <p:nvPr/>
          </p:nvSpPr>
          <p:spPr>
            <a:xfrm>
              <a:off x="5149215" y="1868805"/>
              <a:ext cx="18935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体验不可压缩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29150" y="2488882"/>
              <a:ext cx="29337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不是因为压缩方法还不够好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38500" y="3048000"/>
              <a:ext cx="5715000" cy="19050"/>
            </a:xfrm>
            <a:prstGeom prst="rect">
              <a:avLst/>
            </a:prstGeom>
            <a:gradFill>
              <a:gsLst>
                <a:gs pos="0">
                  <a:srgbClr val="C9A96E">
                    <a:alpha val="0"/>
                  </a:srgbClr>
                </a:gs>
                <a:gs pos="50000">
                  <a:srgbClr val="8B5CF6">
                    <a:alpha val="40000"/>
                  </a:srgbClr>
                </a:gs>
                <a:gs pos="100000">
                  <a:srgbClr val="4A9E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225290" y="3360420"/>
              <a:ext cx="374142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而是因为模拟不是发生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38500" y="4000500"/>
              <a:ext cx="5715000" cy="19050"/>
            </a:xfrm>
            <a:prstGeom prst="rect">
              <a:avLst/>
            </a:prstGeom>
            <a:gradFill>
              <a:gsLst>
                <a:gs pos="0">
                  <a:srgbClr val="C9A96E">
                    <a:alpha val="0"/>
                  </a:srgbClr>
                </a:gs>
                <a:gs pos="50000">
                  <a:srgbClr val="8B5CF6">
                    <a:alpha val="40000"/>
                  </a:srgbClr>
                </a:gs>
                <a:gs pos="100000">
                  <a:srgbClr val="4A9E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41297" y="4282440"/>
              <a:ext cx="21094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AI站在体验的门外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095500" y="4953000"/>
            <a:ext cx="8001000" cy="795338"/>
            <a:chOff x="2095500" y="4953000"/>
            <a:chExt cx="8001000" cy="795338"/>
          </a:xfrm>
        </p:grpSpPr>
        <p:sp>
          <p:nvSpPr>
            <p:cNvPr id="19" name="Rectangle 19"/>
            <p:cNvSpPr/>
            <p:nvPr/>
          </p:nvSpPr>
          <p:spPr>
            <a:xfrm>
              <a:off x="2095500" y="4953000"/>
              <a:ext cx="8001000" cy="762000"/>
            </a:xfrm>
            <a:prstGeom prst="roundRect">
              <a:avLst>
                <a:gd name="adj" fmla="val 20000"/>
              </a:avLst>
            </a:prstGeom>
            <a:solidFill>
              <a:srgbClr val="161B22"/>
            </a:solidFill>
            <a:ln w="14288">
              <a:solidFill>
                <a:srgbClr val="F85149">
                  <a:alpha val="40000"/>
                </a:srgbClr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514600" y="51816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38100" y="114300"/>
                  </a:moveTo>
                  <a:lnTo>
                    <a:pt x="38100" y="76200"/>
                  </a:lnTo>
                  <a:cubicBezTo>
                    <a:pt x="38100" y="34116"/>
                    <a:pt x="72216" y="0"/>
                    <a:pt x="114300" y="0"/>
                  </a:cubicBezTo>
                  <a:cubicBezTo>
                    <a:pt x="156383" y="0"/>
                    <a:pt x="190500" y="34116"/>
                    <a:pt x="190500" y="76200"/>
                  </a:cubicBezTo>
                  <a:lnTo>
                    <a:pt x="190500" y="114300"/>
                  </a:lnTo>
                  <a:lnTo>
                    <a:pt x="228600" y="11430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114300"/>
                  </a:lnTo>
                  <a:lnTo>
                    <a:pt x="38100" y="114300"/>
                  </a:lnTo>
                  <a:close/>
                  <a:moveTo>
                    <a:pt x="76200" y="76200"/>
                  </a:moveTo>
                  <a:cubicBezTo>
                    <a:pt x="76200" y="55158"/>
                    <a:pt x="93258" y="38100"/>
                    <a:pt x="114300" y="38100"/>
                  </a:cubicBezTo>
                  <a:cubicBezTo>
                    <a:pt x="135342" y="38100"/>
                    <a:pt x="152400" y="55158"/>
                    <a:pt x="152400" y="76200"/>
                  </a:cubicBezTo>
                  <a:lnTo>
                    <a:pt x="152400" y="114300"/>
                  </a:lnTo>
                  <a:lnTo>
                    <a:pt x="76200" y="114300"/>
                  </a:lnTo>
                  <a:lnTo>
                    <a:pt x="76200" y="76200"/>
                  </a:lnTo>
                  <a:close/>
                  <a:moveTo>
                    <a:pt x="95250" y="247650"/>
                  </a:moveTo>
                  <a:lnTo>
                    <a:pt x="95250" y="171450"/>
                  </a:lnTo>
                  <a:lnTo>
                    <a:pt x="133350" y="171450"/>
                  </a:lnTo>
                  <a:lnTo>
                    <a:pt x="133350" y="247650"/>
                  </a:lnTo>
                  <a:lnTo>
                    <a:pt x="95250" y="247650"/>
                  </a:lnTo>
                  <a:close/>
                </a:path>
              </a:pathLst>
            </a:custGeom>
            <a:solidFill>
              <a:srgbClr val="F8514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27985" y="5218748"/>
              <a:ext cx="27408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5149"/>
                  </a:solidFill>
                  <a:latin typeface="Georgia"/>
                  <a:ea typeface="SimSun"/>
                  <a:cs typeface="Georgia"/>
                </a:rPr>
                <a:t>门不是算力能推开的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35605" y="54740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它根本不是一扇门，是两面墙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63411" y="6191250"/>
            <a:ext cx="5678019" cy="466725"/>
            <a:chOff x="5763411" y="6191250"/>
            <a:chExt cx="5678019" cy="466725"/>
          </a:xfrm>
        </p:grpSpPr>
        <p:sp>
          <p:nvSpPr>
            <p:cNvPr id="24" name="Freeform 24"/>
            <p:cNvSpPr/>
            <p:nvPr/>
          </p:nvSpPr>
          <p:spPr>
            <a:xfrm>
              <a:off x="5763411" y="6191250"/>
              <a:ext cx="150828" cy="143446"/>
            </a:xfrm>
            <a:custGeom>
              <a:avLst/>
              <a:gdLst/>
              <a:ahLst/>
              <a:cxnLst/>
              <a:rect l="l" t="t" r="r" b="b"/>
              <a:pathLst>
                <a:path w="150828" h="143446">
                  <a:moveTo>
                    <a:pt x="84939" y="0"/>
                  </a:moveTo>
                  <a:lnTo>
                    <a:pt x="65889" y="0"/>
                  </a:lnTo>
                  <a:lnTo>
                    <a:pt x="51725" y="43594"/>
                  </a:lnTo>
                  <a:lnTo>
                    <a:pt x="5887" y="43594"/>
                  </a:lnTo>
                  <a:lnTo>
                    <a:pt x="0" y="61712"/>
                  </a:lnTo>
                  <a:lnTo>
                    <a:pt x="37084" y="88655"/>
                  </a:lnTo>
                  <a:lnTo>
                    <a:pt x="22919" y="132248"/>
                  </a:lnTo>
                  <a:lnTo>
                    <a:pt x="38331" y="143446"/>
                  </a:lnTo>
                  <a:lnTo>
                    <a:pt x="75414" y="116503"/>
                  </a:lnTo>
                  <a:lnTo>
                    <a:pt x="112498" y="143446"/>
                  </a:lnTo>
                  <a:lnTo>
                    <a:pt x="127909" y="132248"/>
                  </a:lnTo>
                  <a:lnTo>
                    <a:pt x="113745" y="88654"/>
                  </a:lnTo>
                  <a:lnTo>
                    <a:pt x="150828" y="61712"/>
                  </a:lnTo>
                  <a:lnTo>
                    <a:pt x="144941" y="43594"/>
                  </a:lnTo>
                  <a:lnTo>
                    <a:pt x="99104" y="43594"/>
                  </a:lnTo>
                  <a:lnTo>
                    <a:pt x="84939" y="0"/>
                  </a:lnTo>
                  <a:close/>
                </a:path>
              </a:pathLst>
            </a:custGeom>
            <a:solidFill>
              <a:srgbClr val="C9A96E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991225" y="61912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85725"/>
                  </a:moveTo>
                  <a:cubicBezTo>
                    <a:pt x="133350" y="122549"/>
                    <a:pt x="103499" y="152400"/>
                    <a:pt x="66675" y="152400"/>
                  </a:cubicBezTo>
                  <a:cubicBezTo>
                    <a:pt x="29851" y="152400"/>
                    <a:pt x="0" y="122549"/>
                    <a:pt x="0" y="85725"/>
                  </a:cubicBezTo>
                  <a:cubicBezTo>
                    <a:pt x="0" y="52388"/>
                    <a:pt x="28575" y="28575"/>
                    <a:pt x="28575" y="28575"/>
                  </a:cubicBezTo>
                  <a:lnTo>
                    <a:pt x="47625" y="28575"/>
                  </a:lnTo>
                  <a:lnTo>
                    <a:pt x="47625" y="42862"/>
                  </a:lnTo>
                  <a:cubicBezTo>
                    <a:pt x="47625" y="48123"/>
                    <a:pt x="51890" y="52388"/>
                    <a:pt x="57150" y="52388"/>
                  </a:cubicBezTo>
                  <a:cubicBezTo>
                    <a:pt x="62410" y="52388"/>
                    <a:pt x="66675" y="48123"/>
                    <a:pt x="66675" y="42862"/>
                  </a:cubicBezTo>
                  <a:lnTo>
                    <a:pt x="66675" y="0"/>
                  </a:lnTo>
                  <a:lnTo>
                    <a:pt x="85725" y="0"/>
                  </a:lnTo>
                  <a:cubicBezTo>
                    <a:pt x="85725" y="0"/>
                    <a:pt x="133350" y="28575"/>
                    <a:pt x="133350" y="85725"/>
                  </a:cubicBezTo>
                  <a:close/>
                  <a:moveTo>
                    <a:pt x="85725" y="114300"/>
                  </a:moveTo>
                  <a:cubicBezTo>
                    <a:pt x="85725" y="124821"/>
                    <a:pt x="77196" y="133350"/>
                    <a:pt x="66675" y="133350"/>
                  </a:cubicBezTo>
                  <a:cubicBezTo>
                    <a:pt x="56154" y="133350"/>
                    <a:pt x="47625" y="124821"/>
                    <a:pt x="47625" y="114300"/>
                  </a:cubicBezTo>
                  <a:cubicBezTo>
                    <a:pt x="47625" y="90488"/>
                    <a:pt x="66675" y="76200"/>
                    <a:pt x="66675" y="76200"/>
                  </a:cubicBezTo>
                  <a:cubicBezTo>
                    <a:pt x="66675" y="76200"/>
                    <a:pt x="85725" y="90488"/>
                    <a:pt x="85725" y="114300"/>
                  </a:cubicBezTo>
                  <a:close/>
                </a:path>
              </a:pathLst>
            </a:custGeom>
            <a:solidFill>
              <a:srgbClr val="C9A96E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200775" y="61912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152400"/>
                  </a:move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lose/>
                  <a:moveTo>
                    <a:pt x="121035" y="54360"/>
                  </a:moveTo>
                  <a:lnTo>
                    <a:pt x="107565" y="40890"/>
                  </a:lnTo>
                  <a:lnTo>
                    <a:pt x="61912" y="86542"/>
                  </a:lnTo>
                  <a:lnTo>
                    <a:pt x="44835" y="69465"/>
                  </a:lnTo>
                  <a:lnTo>
                    <a:pt x="31365" y="82935"/>
                  </a:lnTo>
                  <a:lnTo>
                    <a:pt x="61912" y="113483"/>
                  </a:lnTo>
                  <a:lnTo>
                    <a:pt x="121035" y="54360"/>
                  </a:lnTo>
                  <a:close/>
                </a:path>
              </a:pathLst>
            </a:custGeom>
            <a:solidFill>
              <a:srgbClr val="C9A96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306842" y="6475095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84F58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